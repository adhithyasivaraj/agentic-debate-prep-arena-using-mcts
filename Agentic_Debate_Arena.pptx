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1F2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rtlCol="0"/>
          <a:lstStyle>
            <a:lvl1pPr algn="l" indent="0" marL="0">
              <a:buNone/>
              <a:defRPr lang="en-US" sz="3200" b="1" dirty="0">
                <a:solidFill>
                  <a:srgbClr val="1B1F2A"/>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13816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CONTENT">
    <p:bg>
      <p:bgPr>
        <a:solidFill>
          <a:srgbClr val="0B11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rtlCol="0"/>
          <a:lstStyle>
            <a:lvl1pPr algn="l" indent="0" marL="0">
              <a:buNone/>
              <a:defRPr lang="en-US" sz="3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13816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640080"/>
            <a:ext cx="7680960" cy="365760"/>
          </a:xfrm>
          <a:prstGeom prst="rect">
            <a:avLst/>
          </a:prstGeom>
          <a:noFill/>
          <a:ln/>
        </p:spPr>
        <p:txBody>
          <a:bodyPr wrap="square" lIns="0" tIns="0" rIns="0" bIns="0" rtlCol="0" anchor="t"/>
          <a:lstStyle/>
          <a:p>
            <a:pPr indent="0" marL="0">
              <a:buNone/>
            </a:pPr>
            <a:r>
              <a:rPr lang="en-US" sz="1400" dirty="0">
                <a:solidFill>
                  <a:srgbClr val="D1D5DB"/>
                </a:solidFill>
                <a:latin typeface="Calibri" pitchFamily="34" charset="0"/>
                <a:ea typeface="Calibri" pitchFamily="34" charset="-122"/>
                <a:cs typeface="Calibri" pitchFamily="34" charset="-120"/>
              </a:rPr>
              <a:t>Foundations of AI  ·  Course Project</a:t>
            </a:r>
            <a:endParaRPr lang="en-US" sz="1400" dirty="0"/>
          </a:p>
        </p:txBody>
      </p:sp>
      <p:sp>
        <p:nvSpPr>
          <p:cNvPr id="3" name="Text 1"/>
          <p:cNvSpPr txBox="1"/>
          <p:nvPr/>
        </p:nvSpPr>
        <p:spPr>
          <a:xfrm>
            <a:off x="731520" y="1097280"/>
            <a:ext cx="7315200" cy="17373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Agentic Debate Arena with MCTS &amp; Neuro-Symbolic Logic Verification</a:t>
            </a:r>
            <a:endParaRPr lang="en-US" sz="3800" dirty="0"/>
          </a:p>
        </p:txBody>
      </p:sp>
      <p:sp>
        <p:nvSpPr>
          <p:cNvPr id="4" name="Text 2"/>
          <p:cNvSpPr txBox="1"/>
          <p:nvPr/>
        </p:nvSpPr>
        <p:spPr>
          <a:xfrm>
            <a:off x="731520" y="2926080"/>
            <a:ext cx="7315200" cy="457200"/>
          </a:xfrm>
          <a:prstGeom prst="rect">
            <a:avLst/>
          </a:prstGeom>
          <a:noFill/>
          <a:ln/>
        </p:spPr>
        <p:txBody>
          <a:bodyPr wrap="square" lIns="0" tIns="0" rIns="0" bIns="0" rtlCol="0" anchor="t"/>
          <a:lstStyle/>
          <a:p>
            <a:pPr indent="0" marL="0">
              <a:buNone/>
            </a:pPr>
            <a:r>
              <a:rPr lang="en-US" sz="1800" i="1" dirty="0">
                <a:solidFill>
                  <a:srgbClr val="E7A58F"/>
                </a:solidFill>
                <a:latin typeface="Cambria" pitchFamily="34" charset="0"/>
                <a:ea typeface="Cambria" pitchFamily="34" charset="-122"/>
                <a:cs typeface="Cambria" pitchFamily="34" charset="-120"/>
              </a:rPr>
              <a:t>Two AI agents debate. Search chooses the move. Logic checks the claim.</a:t>
            </a:r>
            <a:endParaRPr lang="en-US" sz="1800" dirty="0"/>
          </a:p>
        </p:txBody>
      </p:sp>
      <p:sp>
        <p:nvSpPr>
          <p:cNvPr id="5" name="Text 3"/>
          <p:cNvSpPr txBox="1"/>
          <p:nvPr/>
        </p:nvSpPr>
        <p:spPr>
          <a:xfrm>
            <a:off x="731520" y="3703320"/>
            <a:ext cx="3657600" cy="228600"/>
          </a:xfrm>
          <a:prstGeom prst="rect">
            <a:avLst/>
          </a:prstGeom>
          <a:noFill/>
          <a:ln/>
        </p:spPr>
        <p:txBody>
          <a:bodyPr wrap="square" lIns="0" tIns="0" rIns="0" bIns="0" rtlCol="0" anchor="t"/>
          <a:lstStyle/>
          <a:p>
            <a:pPr indent="0" marL="0">
              <a:buNone/>
            </a:pPr>
            <a:r>
              <a:rPr lang="en-US" sz="1200" b="1" spc="200" kern="0" dirty="0">
                <a:solidFill>
                  <a:srgbClr val="9CA3AF"/>
                </a:solidFill>
                <a:latin typeface="Calibri" pitchFamily="34" charset="0"/>
                <a:ea typeface="Calibri" pitchFamily="34" charset="-122"/>
                <a:cs typeface="Calibri" pitchFamily="34" charset="-120"/>
              </a:rPr>
              <a:t>TEAM MEMBERS</a:t>
            </a:r>
            <a:endParaRPr lang="en-US" sz="1200" dirty="0"/>
          </a:p>
        </p:txBody>
      </p:sp>
      <p:sp>
        <p:nvSpPr>
          <p:cNvPr id="6" name="Text 4"/>
          <p:cNvSpPr txBox="1"/>
          <p:nvPr/>
        </p:nvSpPr>
        <p:spPr>
          <a:xfrm>
            <a:off x="731520" y="4023360"/>
            <a:ext cx="3017520" cy="36576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S Adhithya</a:t>
            </a:r>
            <a:endParaRPr lang="en-US" sz="2000" dirty="0"/>
          </a:p>
        </p:txBody>
      </p:sp>
      <p:sp>
        <p:nvSpPr>
          <p:cNvPr id="7" name="Text 5"/>
          <p:cNvSpPr txBox="1"/>
          <p:nvPr/>
        </p:nvSpPr>
        <p:spPr>
          <a:xfrm>
            <a:off x="731520" y="4407408"/>
            <a:ext cx="3017520" cy="274320"/>
          </a:xfrm>
          <a:prstGeom prst="rect">
            <a:avLst/>
          </a:prstGeom>
          <a:noFill/>
          <a:ln/>
        </p:spPr>
        <p:txBody>
          <a:bodyPr wrap="square" lIns="0" tIns="0" rIns="0" bIns="0" rtlCol="0" anchor="t"/>
          <a:lstStyle/>
          <a:p>
            <a:pPr indent="0" marL="0">
              <a:buNone/>
            </a:pPr>
            <a:r>
              <a:rPr lang="en-US" sz="1400" dirty="0">
                <a:solidFill>
                  <a:srgbClr val="D1D5DB"/>
                </a:solidFill>
                <a:latin typeface="Calibri" pitchFamily="34" charset="0"/>
                <a:ea typeface="Calibri" pitchFamily="34" charset="-122"/>
                <a:cs typeface="Calibri" pitchFamily="34" charset="-120"/>
              </a:rPr>
              <a:t>Roll No: 2116240701017</a:t>
            </a:r>
            <a:endParaRPr lang="en-US" sz="1400" dirty="0"/>
          </a:p>
        </p:txBody>
      </p:sp>
      <p:sp>
        <p:nvSpPr>
          <p:cNvPr id="8" name="Text 6"/>
          <p:cNvSpPr txBox="1"/>
          <p:nvPr/>
        </p:nvSpPr>
        <p:spPr>
          <a:xfrm>
            <a:off x="4023360" y="4023360"/>
            <a:ext cx="3017520" cy="36576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Adithya S</a:t>
            </a:r>
            <a:endParaRPr lang="en-US" sz="2000" dirty="0"/>
          </a:p>
        </p:txBody>
      </p:sp>
      <p:sp>
        <p:nvSpPr>
          <p:cNvPr id="9" name="Text 7"/>
          <p:cNvSpPr txBox="1"/>
          <p:nvPr/>
        </p:nvSpPr>
        <p:spPr>
          <a:xfrm>
            <a:off x="4023360" y="4407408"/>
            <a:ext cx="3017520" cy="274320"/>
          </a:xfrm>
          <a:prstGeom prst="rect">
            <a:avLst/>
          </a:prstGeom>
          <a:noFill/>
          <a:ln/>
        </p:spPr>
        <p:txBody>
          <a:bodyPr wrap="square" lIns="0" tIns="0" rIns="0" bIns="0" rtlCol="0" anchor="t"/>
          <a:lstStyle/>
          <a:p>
            <a:pPr indent="0" marL="0">
              <a:buNone/>
            </a:pPr>
            <a:r>
              <a:rPr lang="en-US" sz="1400" dirty="0">
                <a:solidFill>
                  <a:srgbClr val="D1D5DB"/>
                </a:solidFill>
                <a:latin typeface="Calibri" pitchFamily="34" charset="0"/>
                <a:ea typeface="Calibri" pitchFamily="34" charset="-122"/>
                <a:cs typeface="Calibri" pitchFamily="34" charset="-120"/>
              </a:rPr>
              <a:t>Roll No: 2116240701019</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rgbClr val="1B1F2A"/>
                </a:solidFill>
                <a:latin typeface="Cambria" pitchFamily="34" charset="0"/>
                <a:ea typeface="Cambria" pitchFamily="34" charset="-122"/>
                <a:cs typeface="Cambria" pitchFamily="34" charset="-120"/>
              </a:rPr>
              <a:t>Abstract</a:t>
            </a:r>
            <a:endParaRPr lang="en-US" sz="3200" dirty="0"/>
          </a:p>
        </p:txBody>
      </p:sp>
      <p:sp>
        <p:nvSpPr>
          <p:cNvPr id="3" name="Text 1"/>
          <p:cNvSpPr txBox="1"/>
          <p:nvPr/>
        </p:nvSpPr>
        <p:spPr>
          <a:xfrm>
            <a:off x="548640" y="1280160"/>
            <a:ext cx="8046720" cy="3200400"/>
          </a:xfrm>
          <a:prstGeom prst="rect">
            <a:avLst/>
          </a:prstGeom>
          <a:noFill/>
          <a:ln/>
        </p:spPr>
        <p:txBody>
          <a:bodyPr wrap="square" lIns="0" tIns="0" rIns="0" bIns="0" rtlCol="0" anchor="t"/>
          <a:lstStyle/>
          <a:p>
            <a:pPr indent="0" marL="0">
              <a:lnSpc>
                <a:spcPct val="105000"/>
              </a:lnSpc>
              <a:buNone/>
            </a:pPr>
            <a:r>
              <a:rPr lang="en-US" sz="1500" dirty="0">
                <a:solidFill>
                  <a:srgbClr val="1B1F2A"/>
                </a:solidFill>
                <a:latin typeface="Calibri" pitchFamily="34" charset="0"/>
                <a:ea typeface="Calibri" pitchFamily="34" charset="-122"/>
                <a:cs typeface="Calibri" pitchFamily="34" charset="-120"/>
              </a:rPr>
              <a:t>Online debate and AI-assisted argumentation increasingly shape how people form opinions. Large language models now write fluent arguments on any topic, but fluency is not the same as logical soundness. Traditional debate systems let a single LLM write, judge and fact-check its own arguments. They choose rebuttals by prompting rather than by search, and they cannot prove when an argument contradicts itself. The proposed Agentic Debate Arena frames each topic as two explicit positions and grounds the debate in a generated fact base. On every turn the LLM proposes candidate arguments, Monte Carlo Tree Search (UCB1) chooses one through resolution-based simulations, and CNF propositional resolution proves each refutation and self-contradiction. The verdict is the net count of proven refutations. In a 10-turn case study on gaming versus business laptops, Agent A won 2–0, and the implementation passes 223 automated tests.</a:t>
            </a:r>
            <a:endParaRPr lang="en-US" sz="1500" dirty="0"/>
          </a:p>
        </p:txBody>
      </p:sp>
      <p:sp>
        <p:nvSpPr>
          <p:cNvPr id="25" name="Slide Number Placeholder 0"/>
          <p:cNvSpPr>
            <a:spLocks noGrp="1"/>
          </p:cNvSpPr>
          <p:nvPr>
            <p:ph type="sldNum" sz="quarter" idx="4294967295"/>
          </p:nvPr>
        </p:nvSpPr>
        <p:spPr>
          <a:xfrm>
            <a:off x="813816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rgbClr val="1B1F2A"/>
                </a:solidFill>
                <a:latin typeface="Cambria" pitchFamily="34" charset="0"/>
                <a:ea typeface="Cambria" pitchFamily="34" charset="-122"/>
                <a:cs typeface="Cambria" pitchFamily="34" charset="-120"/>
              </a:rPr>
              <a:t>Problem Statement</a:t>
            </a:r>
            <a:endParaRPr lang="en-US" sz="3200" dirty="0"/>
          </a:p>
        </p:txBody>
      </p:sp>
      <p:sp>
        <p:nvSpPr>
          <p:cNvPr id="3" name="Text 1"/>
          <p:cNvSpPr txBox="1"/>
          <p:nvPr/>
        </p:nvSpPr>
        <p:spPr>
          <a:xfrm>
            <a:off x="548640" y="1280160"/>
            <a:ext cx="4937760" cy="1188720"/>
          </a:xfrm>
          <a:prstGeom prst="rect">
            <a:avLst/>
          </a:prstGeom>
          <a:noFill/>
          <a:ln/>
        </p:spPr>
        <p:txBody>
          <a:bodyPr wrap="square" lIns="0" tIns="0" rIns="0" bIns="0" rtlCol="0" anchor="t"/>
          <a:lstStyle/>
          <a:p>
            <a:pPr indent="0" marL="0">
              <a:buNone/>
            </a:pPr>
            <a:r>
              <a:rPr lang="en-US" sz="1600" b="1" dirty="0">
                <a:solidFill>
                  <a:srgbClr val="1B1F2A"/>
                </a:solidFill>
                <a:latin typeface="Calibri" pitchFamily="34" charset="0"/>
                <a:ea typeface="Calibri" pitchFamily="34" charset="-122"/>
                <a:cs typeface="Calibri" pitchFamily="34" charset="-120"/>
              </a:rPr>
              <a:t>Design a two-agent debate system in which MCTS and propositional resolution, not the LLM, choose each move and verify consistency, so that every claim is grounded in a fact base and every contradiction is proved.</a:t>
            </a:r>
            <a:endParaRPr lang="en-US" sz="1600" dirty="0"/>
          </a:p>
        </p:txBody>
      </p:sp>
      <p:sp>
        <p:nvSpPr>
          <p:cNvPr id="4" name="Text 2"/>
          <p:cNvSpPr txBox="1"/>
          <p:nvPr/>
        </p:nvSpPr>
        <p:spPr>
          <a:xfrm>
            <a:off x="548640" y="2606040"/>
            <a:ext cx="493776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B5563"/>
                </a:solidFill>
                <a:latin typeface="Calibri" pitchFamily="34" charset="0"/>
                <a:ea typeface="Calibri" pitchFamily="34" charset="-122"/>
                <a:cs typeface="Calibri" pitchFamily="34" charset="-120"/>
              </a:rPr>
              <a:t>LLM debaters can contradict themselves, repeat points and invent facts.</a:t>
            </a:r>
            <a:endParaRPr lang="en-US" sz="1400" dirty="0"/>
          </a:p>
          <a:p>
            <a:pPr marL="342900" indent="-342900">
              <a:spcAft>
                <a:spcPts val="600"/>
              </a:spcAft>
              <a:buSzPct val="100000"/>
              <a:buChar char="•"/>
            </a:pPr>
            <a:r>
              <a:rPr lang="en-US" sz="1400" dirty="0">
                <a:solidFill>
                  <a:srgbClr val="4B5563"/>
                </a:solidFill>
                <a:latin typeface="Calibri" pitchFamily="34" charset="0"/>
                <a:ea typeface="Calibri" pitchFamily="34" charset="-122"/>
                <a:cs typeface="Calibri" pitchFamily="34" charset="-120"/>
              </a:rPr>
              <a:t>Move choice and consistency checks must be separated from language generation.</a:t>
            </a:r>
            <a:endParaRPr lang="en-US" sz="1400" dirty="0"/>
          </a:p>
          <a:p>
            <a:pPr marL="342900" indent="-342900">
              <a:spcAft>
                <a:spcPts val="600"/>
              </a:spcAft>
              <a:buSzPct val="100000"/>
              <a:buChar char="•"/>
            </a:pPr>
            <a:r>
              <a:rPr lang="en-US" sz="1400" dirty="0">
                <a:solidFill>
                  <a:srgbClr val="4B5563"/>
                </a:solidFill>
                <a:latin typeface="Calibri" pitchFamily="34" charset="0"/>
                <a:ea typeface="Calibri" pitchFamily="34" charset="-122"/>
                <a:cs typeface="Calibri" pitchFamily="34" charset="-120"/>
              </a:rPr>
              <a:t>Search should pick rebuttals; logic should prove contradictions.</a:t>
            </a:r>
            <a:endParaRPr lang="en-US" sz="1400" dirty="0"/>
          </a:p>
          <a:p>
            <a:pPr marL="342900" indent="-342900">
              <a:spcAft>
                <a:spcPts val="600"/>
              </a:spcAft>
              <a:buSzPct val="100000"/>
              <a:buChar char="•"/>
            </a:pPr>
            <a:r>
              <a:rPr lang="en-US" sz="1400" dirty="0">
                <a:solidFill>
                  <a:srgbClr val="4B5563"/>
                </a:solidFill>
                <a:latin typeface="Calibri" pitchFamily="34" charset="0"/>
                <a:ea typeface="Calibri" pitchFamily="34" charset="-122"/>
                <a:cs typeface="Calibri" pitchFamily="34" charset="-120"/>
              </a:rPr>
              <a:t>Every claim should trace back to a fixed fact base so results can be audited.</a:t>
            </a:r>
            <a:endParaRPr lang="en-US" sz="1400" dirty="0"/>
          </a:p>
        </p:txBody>
      </p:sp>
      <p:sp>
        <p:nvSpPr>
          <p:cNvPr id="5" name="Shape 3"/>
          <p:cNvSpPr/>
          <p:nvPr/>
        </p:nvSpPr>
        <p:spPr>
          <a:xfrm>
            <a:off x="5760720" y="1280160"/>
            <a:ext cx="2834640" cy="3200400"/>
          </a:xfrm>
          <a:prstGeom prst="rect">
            <a:avLst/>
          </a:prstGeom>
          <a:solidFill>
            <a:srgbClr val="F2F4F7"/>
          </a:solidFill>
          <a:ln w="12700">
            <a:solidFill>
              <a:srgbClr val="F2F4F7"/>
            </a:solidFill>
            <a:prstDash val="solid"/>
          </a:ln>
        </p:spPr>
      </p:sp>
      <p:sp>
        <p:nvSpPr>
          <p:cNvPr id="6" name="Text 4"/>
          <p:cNvSpPr txBox="1"/>
          <p:nvPr/>
        </p:nvSpPr>
        <p:spPr>
          <a:xfrm>
            <a:off x="5943600" y="1417320"/>
            <a:ext cx="2468880" cy="320040"/>
          </a:xfrm>
          <a:prstGeom prst="rect">
            <a:avLst/>
          </a:prstGeom>
          <a:noFill/>
          <a:ln/>
        </p:spPr>
        <p:txBody>
          <a:bodyPr wrap="square" lIns="0" tIns="0" rIns="0" bIns="0" rtlCol="0" anchor="t"/>
          <a:lstStyle/>
          <a:p>
            <a:pPr indent="0" marL="0">
              <a:buNone/>
            </a:pPr>
            <a:r>
              <a:rPr lang="en-US" sz="1800" b="1" dirty="0">
                <a:solidFill>
                  <a:srgbClr val="1B1F2A"/>
                </a:solidFill>
                <a:latin typeface="Cambria" pitchFamily="34" charset="0"/>
                <a:ea typeface="Cambria" pitchFamily="34" charset="-122"/>
                <a:cs typeface="Cambria" pitchFamily="34" charset="-120"/>
              </a:rPr>
              <a:t>Syllabus link</a:t>
            </a:r>
            <a:endParaRPr lang="en-US" sz="1800" dirty="0"/>
          </a:p>
        </p:txBody>
      </p:sp>
      <p:sp>
        <p:nvSpPr>
          <p:cNvPr id="7" name="Text 5"/>
          <p:cNvSpPr txBox="1"/>
          <p:nvPr/>
        </p:nvSpPr>
        <p:spPr>
          <a:xfrm>
            <a:off x="5943600" y="2011680"/>
            <a:ext cx="822960" cy="274320"/>
          </a:xfrm>
          <a:prstGeom prst="rect">
            <a:avLst/>
          </a:prstGeom>
          <a:noFill/>
          <a:ln/>
        </p:spPr>
        <p:txBody>
          <a:bodyPr wrap="square" lIns="0" tIns="0" rIns="0" bIns="0" rtlCol="0" anchor="t"/>
          <a:lstStyle/>
          <a:p>
            <a:pPr indent="0" marL="0">
              <a:buNone/>
            </a:pPr>
            <a:r>
              <a:rPr lang="en-US" sz="1400" b="1" dirty="0">
                <a:solidFill>
                  <a:srgbClr val="B4452C"/>
                </a:solidFill>
                <a:latin typeface="Calibri" pitchFamily="34" charset="0"/>
                <a:ea typeface="Calibri" pitchFamily="34" charset="-122"/>
                <a:cs typeface="Calibri" pitchFamily="34" charset="-120"/>
              </a:rPr>
              <a:t>Unit I</a:t>
            </a:r>
            <a:endParaRPr lang="en-US" sz="1400" dirty="0"/>
          </a:p>
        </p:txBody>
      </p:sp>
      <p:sp>
        <p:nvSpPr>
          <p:cNvPr id="8" name="Text 6"/>
          <p:cNvSpPr txBox="1"/>
          <p:nvPr/>
        </p:nvSpPr>
        <p:spPr>
          <a:xfrm>
            <a:off x="6766560" y="2011680"/>
            <a:ext cx="1737360" cy="274320"/>
          </a:xfrm>
          <a:prstGeom prst="rect">
            <a:avLst/>
          </a:prstGeom>
          <a:noFill/>
          <a:ln/>
        </p:spPr>
        <p:txBody>
          <a:bodyPr wrap="square" lIns="0" tIns="0" rIns="0" bIns="0" rtlCol="0" anchor="t"/>
          <a:lstStyle/>
          <a:p>
            <a:pPr indent="0" marL="0">
              <a:buNone/>
            </a:pPr>
            <a:r>
              <a:rPr lang="en-US" sz="1400" dirty="0">
                <a:solidFill>
                  <a:srgbClr val="1B1F2A"/>
                </a:solidFill>
                <a:latin typeface="Calibri" pitchFamily="34" charset="0"/>
                <a:ea typeface="Calibri" pitchFamily="34" charset="-122"/>
                <a:cs typeface="Calibri" pitchFamily="34" charset="-120"/>
              </a:rPr>
              <a:t>KB agent, TELL/ASK</a:t>
            </a:r>
            <a:endParaRPr lang="en-US" sz="1400" dirty="0"/>
          </a:p>
        </p:txBody>
      </p:sp>
      <p:sp>
        <p:nvSpPr>
          <p:cNvPr id="9" name="Text 7"/>
          <p:cNvSpPr txBox="1"/>
          <p:nvPr/>
        </p:nvSpPr>
        <p:spPr>
          <a:xfrm>
            <a:off x="5943600" y="2606040"/>
            <a:ext cx="822960" cy="274320"/>
          </a:xfrm>
          <a:prstGeom prst="rect">
            <a:avLst/>
          </a:prstGeom>
          <a:noFill/>
          <a:ln/>
        </p:spPr>
        <p:txBody>
          <a:bodyPr wrap="square" lIns="0" tIns="0" rIns="0" bIns="0" rtlCol="0" anchor="t"/>
          <a:lstStyle/>
          <a:p>
            <a:pPr indent="0" marL="0">
              <a:buNone/>
            </a:pPr>
            <a:r>
              <a:rPr lang="en-US" sz="1400" b="1" dirty="0">
                <a:solidFill>
                  <a:srgbClr val="B4452C"/>
                </a:solidFill>
                <a:latin typeface="Calibri" pitchFamily="34" charset="0"/>
                <a:ea typeface="Calibri" pitchFamily="34" charset="-122"/>
                <a:cs typeface="Calibri" pitchFamily="34" charset="-120"/>
              </a:rPr>
              <a:t>Unit II</a:t>
            </a:r>
            <a:endParaRPr lang="en-US" sz="1400" dirty="0"/>
          </a:p>
        </p:txBody>
      </p:sp>
      <p:sp>
        <p:nvSpPr>
          <p:cNvPr id="10" name="Text 8"/>
          <p:cNvSpPr txBox="1"/>
          <p:nvPr/>
        </p:nvSpPr>
        <p:spPr>
          <a:xfrm>
            <a:off x="6766560" y="2606040"/>
            <a:ext cx="1737360" cy="274320"/>
          </a:xfrm>
          <a:prstGeom prst="rect">
            <a:avLst/>
          </a:prstGeom>
          <a:noFill/>
          <a:ln/>
        </p:spPr>
        <p:txBody>
          <a:bodyPr wrap="square" lIns="0" tIns="0" rIns="0" bIns="0" rtlCol="0" anchor="t"/>
          <a:lstStyle/>
          <a:p>
            <a:pPr indent="0" marL="0">
              <a:buNone/>
            </a:pPr>
            <a:r>
              <a:rPr lang="en-US" sz="1400" dirty="0">
                <a:solidFill>
                  <a:srgbClr val="1B1F2A"/>
                </a:solidFill>
                <a:latin typeface="Calibri" pitchFamily="34" charset="0"/>
                <a:ea typeface="Calibri" pitchFamily="34" charset="-122"/>
                <a:cs typeface="Calibri" pitchFamily="34" charset="-120"/>
              </a:rPr>
              <a:t>Semantic retrieval</a:t>
            </a:r>
            <a:endParaRPr lang="en-US" sz="1400" dirty="0"/>
          </a:p>
        </p:txBody>
      </p:sp>
      <p:sp>
        <p:nvSpPr>
          <p:cNvPr id="11" name="Text 9"/>
          <p:cNvSpPr txBox="1"/>
          <p:nvPr/>
        </p:nvSpPr>
        <p:spPr>
          <a:xfrm>
            <a:off x="5943600" y="3200400"/>
            <a:ext cx="822960" cy="274320"/>
          </a:xfrm>
          <a:prstGeom prst="rect">
            <a:avLst/>
          </a:prstGeom>
          <a:noFill/>
          <a:ln/>
        </p:spPr>
        <p:txBody>
          <a:bodyPr wrap="square" lIns="0" tIns="0" rIns="0" bIns="0" rtlCol="0" anchor="t"/>
          <a:lstStyle/>
          <a:p>
            <a:pPr indent="0" marL="0">
              <a:buNone/>
            </a:pPr>
            <a:r>
              <a:rPr lang="en-US" sz="1400" b="1" dirty="0">
                <a:solidFill>
                  <a:srgbClr val="B4452C"/>
                </a:solidFill>
                <a:latin typeface="Calibri" pitchFamily="34" charset="0"/>
                <a:ea typeface="Calibri" pitchFamily="34" charset="-122"/>
                <a:cs typeface="Calibri" pitchFamily="34" charset="-120"/>
              </a:rPr>
              <a:t>Unit III</a:t>
            </a:r>
            <a:endParaRPr lang="en-US" sz="1400" dirty="0"/>
          </a:p>
        </p:txBody>
      </p:sp>
      <p:sp>
        <p:nvSpPr>
          <p:cNvPr id="12" name="Text 10"/>
          <p:cNvSpPr txBox="1"/>
          <p:nvPr/>
        </p:nvSpPr>
        <p:spPr>
          <a:xfrm>
            <a:off x="6766560" y="3200400"/>
            <a:ext cx="1737360" cy="274320"/>
          </a:xfrm>
          <a:prstGeom prst="rect">
            <a:avLst/>
          </a:prstGeom>
          <a:noFill/>
          <a:ln/>
        </p:spPr>
        <p:txBody>
          <a:bodyPr wrap="square" lIns="0" tIns="0" rIns="0" bIns="0" rtlCol="0" anchor="t"/>
          <a:lstStyle/>
          <a:p>
            <a:pPr indent="0" marL="0">
              <a:buNone/>
            </a:pPr>
            <a:r>
              <a:rPr lang="en-US" sz="1400" dirty="0">
                <a:solidFill>
                  <a:srgbClr val="1B1F2A"/>
                </a:solidFill>
                <a:latin typeface="Calibri" pitchFamily="34" charset="0"/>
                <a:ea typeface="Calibri" pitchFamily="34" charset="-122"/>
                <a:cs typeface="Calibri" pitchFamily="34" charset="-120"/>
              </a:rPr>
              <a:t>MCTS</a:t>
            </a:r>
            <a:endParaRPr lang="en-US" sz="1400" dirty="0"/>
          </a:p>
        </p:txBody>
      </p:sp>
      <p:sp>
        <p:nvSpPr>
          <p:cNvPr id="13" name="Text 11"/>
          <p:cNvSpPr txBox="1"/>
          <p:nvPr/>
        </p:nvSpPr>
        <p:spPr>
          <a:xfrm>
            <a:off x="5943600" y="3794760"/>
            <a:ext cx="822960" cy="274320"/>
          </a:xfrm>
          <a:prstGeom prst="rect">
            <a:avLst/>
          </a:prstGeom>
          <a:noFill/>
          <a:ln/>
        </p:spPr>
        <p:txBody>
          <a:bodyPr wrap="square" lIns="0" tIns="0" rIns="0" bIns="0" rtlCol="0" anchor="t"/>
          <a:lstStyle/>
          <a:p>
            <a:pPr indent="0" marL="0">
              <a:buNone/>
            </a:pPr>
            <a:r>
              <a:rPr lang="en-US" sz="1400" b="1" dirty="0">
                <a:solidFill>
                  <a:srgbClr val="B4452C"/>
                </a:solidFill>
                <a:latin typeface="Calibri" pitchFamily="34" charset="0"/>
                <a:ea typeface="Calibri" pitchFamily="34" charset="-122"/>
                <a:cs typeface="Calibri" pitchFamily="34" charset="-120"/>
              </a:rPr>
              <a:t>Unit IV</a:t>
            </a:r>
            <a:endParaRPr lang="en-US" sz="1400" dirty="0"/>
          </a:p>
        </p:txBody>
      </p:sp>
      <p:sp>
        <p:nvSpPr>
          <p:cNvPr id="14" name="Text 12"/>
          <p:cNvSpPr txBox="1"/>
          <p:nvPr/>
        </p:nvSpPr>
        <p:spPr>
          <a:xfrm>
            <a:off x="6766560" y="3794760"/>
            <a:ext cx="1737360" cy="274320"/>
          </a:xfrm>
          <a:prstGeom prst="rect">
            <a:avLst/>
          </a:prstGeom>
          <a:noFill/>
          <a:ln/>
        </p:spPr>
        <p:txBody>
          <a:bodyPr wrap="square" lIns="0" tIns="0" rIns="0" bIns="0" rtlCol="0" anchor="t"/>
          <a:lstStyle/>
          <a:p>
            <a:pPr indent="0" marL="0">
              <a:buNone/>
            </a:pPr>
            <a:r>
              <a:rPr lang="en-US" sz="1400" dirty="0">
                <a:solidFill>
                  <a:srgbClr val="1B1F2A"/>
                </a:solidFill>
                <a:latin typeface="Calibri" pitchFamily="34" charset="0"/>
                <a:ea typeface="Calibri" pitchFamily="34" charset="-122"/>
                <a:cs typeface="Calibri" pitchFamily="34" charset="-120"/>
              </a:rPr>
              <a:t>Resolution</a:t>
            </a:r>
            <a:endParaRPr lang="en-US" sz="1400" dirty="0"/>
          </a:p>
        </p:txBody>
      </p:sp>
      <p:sp>
        <p:nvSpPr>
          <p:cNvPr id="25" name="Slide Number Placeholder 0"/>
          <p:cNvSpPr>
            <a:spLocks noGrp="1"/>
          </p:cNvSpPr>
          <p:nvPr>
            <p:ph type="sldNum" sz="quarter" idx="4294967295"/>
          </p:nvPr>
        </p:nvSpPr>
        <p:spPr>
          <a:xfrm>
            <a:off x="813816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rgbClr val="1B1F2A"/>
                </a:solidFill>
                <a:latin typeface="Cambria" pitchFamily="34" charset="0"/>
                <a:ea typeface="Cambria" pitchFamily="34" charset="-122"/>
                <a:cs typeface="Cambria" pitchFamily="34" charset="-120"/>
              </a:rPr>
              <a:t>Literature Survey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8046720" cy="914400"/>
        </p:xfrm>
        <a:graphic>
          <a:graphicData uri="http://schemas.openxmlformats.org/drawingml/2006/table">
            <a:tbl>
              <a:tblPr/>
              <a:tblGrid>
                <a:gridCol w="2651760"/>
                <a:gridCol w="3108960"/>
                <a:gridCol w="2286000"/>
              </a:tblGrid>
              <a:tr h="36576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Work</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1B1F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Approach</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1B1F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Limitation</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1B1F2A"/>
                    </a:solidFill>
                  </a:tcPr>
                </a:tc>
              </a:tr>
              <a:tr h="54864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Irving et al., 2018</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4B5563"/>
                          </a:solidFill>
                          <a:latin typeface="Calibri" pitchFamily="34" charset="0"/>
                          <a:ea typeface="Calibri" pitchFamily="34" charset="-122"/>
                          <a:cs typeface="Calibri" pitchFamily="34" charset="-120"/>
                        </a:rPr>
                        <a:t>Two agents debate, a human judges</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4B5563"/>
                          </a:solidFill>
                          <a:latin typeface="Calibri" pitchFamily="34" charset="0"/>
                          <a:ea typeface="Calibri" pitchFamily="34" charset="-122"/>
                          <a:cs typeface="Calibri" pitchFamily="34" charset="-120"/>
                        </a:rPr>
                        <a:t>Human judge; no logic check</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r>
              <a:tr h="54864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Du et al., 2023</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2F4F7"/>
                    </a:solidFill>
                  </a:tcPr>
                </a:tc>
                <a:tc>
                  <a:txBody>
                    <a:bodyPr/>
                    <a:lstStyle/>
                    <a:p>
                      <a:pPr indent="0" marL="0">
                        <a:buNone/>
                      </a:pPr>
                      <a:r>
                        <a:rPr lang="en-US" sz="1400" dirty="0">
                          <a:solidFill>
                            <a:srgbClr val="4B5563"/>
                          </a:solidFill>
                          <a:latin typeface="Calibri" pitchFamily="34" charset="0"/>
                          <a:ea typeface="Calibri" pitchFamily="34" charset="-122"/>
                          <a:cs typeface="Calibri" pitchFamily="34" charset="-120"/>
                        </a:rPr>
                        <a:t>Several LLMs debate to improve factuality</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2F4F7"/>
                    </a:solidFill>
                  </a:tcPr>
                </a:tc>
                <a:tc>
                  <a:txBody>
                    <a:bodyPr/>
                    <a:lstStyle/>
                    <a:p>
                      <a:pPr indent="0" marL="0">
                        <a:buNone/>
                      </a:pPr>
                      <a:r>
                        <a:rPr lang="en-US" sz="1400" dirty="0">
                          <a:solidFill>
                            <a:srgbClr val="4B5563"/>
                          </a:solidFill>
                          <a:latin typeface="Calibri" pitchFamily="34" charset="0"/>
                          <a:ea typeface="Calibri" pitchFamily="34" charset="-122"/>
                          <a:cs typeface="Calibri" pitchFamily="34" charset="-120"/>
                        </a:rPr>
                        <a:t>LLM picks moves; no proof</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2F4F7"/>
                    </a:solidFill>
                  </a:tcPr>
                </a:tc>
              </a:tr>
              <a:tr h="54864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Pan et al., 2023</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4B5563"/>
                          </a:solidFill>
                          <a:latin typeface="Calibri" pitchFamily="34" charset="0"/>
                          <a:ea typeface="Calibri" pitchFamily="34" charset="-122"/>
                          <a:cs typeface="Calibri" pitchFamily="34" charset="-120"/>
                        </a:rPr>
                        <a:t>Logic-LM: LLM plus symbolic solver</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4B5563"/>
                          </a:solidFill>
                          <a:latin typeface="Calibri" pitchFamily="34" charset="0"/>
                          <a:ea typeface="Calibri" pitchFamily="34" charset="-122"/>
                          <a:cs typeface="Calibri" pitchFamily="34" charset="-120"/>
                        </a:rPr>
                        <a:t>Single-agent QA only</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r>
              <a:tr h="54864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Kocsis &amp; Szepesvári, 2006</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2F4F7"/>
                    </a:solidFill>
                  </a:tcPr>
                </a:tc>
                <a:tc>
                  <a:txBody>
                    <a:bodyPr/>
                    <a:lstStyle/>
                    <a:p>
                      <a:pPr indent="0" marL="0">
                        <a:buNone/>
                      </a:pPr>
                      <a:r>
                        <a:rPr lang="en-US" sz="1400" dirty="0">
                          <a:solidFill>
                            <a:srgbClr val="4B5563"/>
                          </a:solidFill>
                          <a:latin typeface="Calibri" pitchFamily="34" charset="0"/>
                          <a:ea typeface="Calibri" pitchFamily="34" charset="-122"/>
                          <a:cs typeface="Calibri" pitchFamily="34" charset="-120"/>
                        </a:rPr>
                        <a:t>UCT: tree search with UCB1</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2F4F7"/>
                    </a:solidFill>
                  </a:tcPr>
                </a:tc>
                <a:tc>
                  <a:txBody>
                    <a:bodyPr/>
                    <a:lstStyle/>
                    <a:p>
                      <a:pPr indent="0" marL="0">
                        <a:buNone/>
                      </a:pPr>
                      <a:r>
                        <a:rPr lang="en-US" sz="1400" dirty="0">
                          <a:solidFill>
                            <a:srgbClr val="4B5563"/>
                          </a:solidFill>
                          <a:latin typeface="Calibri" pitchFamily="34" charset="0"/>
                          <a:ea typeface="Calibri" pitchFamily="34" charset="-122"/>
                          <a:cs typeface="Calibri" pitchFamily="34" charset="-120"/>
                        </a:rPr>
                        <a:t>Games, not arguments</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2F4F7"/>
                    </a:solidFill>
                  </a:tcPr>
                </a:tc>
              </a:tr>
              <a:tr h="548640">
                <a:tc>
                  <a:txBody>
                    <a:bodyPr/>
                    <a:lstStyle/>
                    <a:p>
                      <a:pPr indent="0" marL="0">
                        <a:buNone/>
                      </a:pPr>
                      <a:r>
                        <a:rPr lang="en-US" sz="1400" b="1" dirty="0">
                          <a:solidFill>
                            <a:srgbClr val="1B1F2A"/>
                          </a:solidFill>
                          <a:latin typeface="Calibri" pitchFamily="34" charset="0"/>
                          <a:ea typeface="Calibri" pitchFamily="34" charset="-122"/>
                          <a:cs typeface="Calibri" pitchFamily="34" charset="-120"/>
                        </a:rPr>
                        <a:t>Robinson, 1965</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4B5563"/>
                          </a:solidFill>
                          <a:latin typeface="Calibri" pitchFamily="34" charset="0"/>
                          <a:ea typeface="Calibri" pitchFamily="34" charset="-122"/>
                          <a:cs typeface="Calibri" pitchFamily="34" charset="-120"/>
                        </a:rPr>
                        <a:t>Resolution refutation</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4B5563"/>
                          </a:solidFill>
                          <a:latin typeface="Calibri" pitchFamily="34" charset="0"/>
                          <a:ea typeface="Calibri" pitchFamily="34" charset="-122"/>
                          <a:cs typeface="Calibri" pitchFamily="34" charset="-120"/>
                        </a:rPr>
                        <a:t>Formal clauses only</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5" name="Slide Number Placeholder 0"/>
          <p:cNvSpPr>
            <a:spLocks noGrp="1"/>
          </p:cNvSpPr>
          <p:nvPr>
            <p:ph type="sldNum" sz="quarter" idx="4294967295"/>
          </p:nvPr>
        </p:nvSpPr>
        <p:spPr>
          <a:xfrm>
            <a:off x="813816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rgbClr val="1B1F2A"/>
                </a:solidFill>
                <a:latin typeface="Cambria" pitchFamily="34" charset="0"/>
                <a:ea typeface="Cambria" pitchFamily="34" charset="-122"/>
                <a:cs typeface="Cambria" pitchFamily="34" charset="-120"/>
              </a:rPr>
              <a:t>Research Gap</a:t>
            </a:r>
            <a:endParaRPr lang="en-US" sz="3200" dirty="0"/>
          </a:p>
        </p:txBody>
      </p:sp>
      <p:sp>
        <p:nvSpPr>
          <p:cNvPr id="3" name="Shape 1"/>
          <p:cNvSpPr/>
          <p:nvPr/>
        </p:nvSpPr>
        <p:spPr>
          <a:xfrm>
            <a:off x="548640" y="1280160"/>
            <a:ext cx="8046720" cy="731520"/>
          </a:xfrm>
          <a:prstGeom prst="rect">
            <a:avLst/>
          </a:prstGeom>
          <a:solidFill>
            <a:srgbClr val="F2F4F7"/>
          </a:solidFill>
          <a:ln w="12700">
            <a:solidFill>
              <a:srgbClr val="F2F4F7"/>
            </a:solidFill>
            <a:prstDash val="solid"/>
          </a:ln>
        </p:spPr>
      </p:sp>
      <p:sp>
        <p:nvSpPr>
          <p:cNvPr id="4" name="Text 2"/>
          <p:cNvSpPr txBox="1"/>
          <p:nvPr/>
        </p:nvSpPr>
        <p:spPr>
          <a:xfrm>
            <a:off x="777240" y="1280160"/>
            <a:ext cx="731520" cy="731520"/>
          </a:xfrm>
          <a:prstGeom prst="rect">
            <a:avLst/>
          </a:prstGeom>
          <a:noFill/>
          <a:ln/>
        </p:spPr>
        <p:txBody>
          <a:bodyPr wrap="square" lIns="0" tIns="0" rIns="0" bIns="0" rtlCol="0" anchor="ctr"/>
          <a:lstStyle/>
          <a:p>
            <a:pPr indent="0" marL="0">
              <a:buNone/>
            </a:pPr>
            <a:r>
              <a:rPr lang="en-US" sz="2600" b="1" dirty="0">
                <a:solidFill>
                  <a:srgbClr val="B4452C"/>
                </a:solidFill>
                <a:latin typeface="Cambria" pitchFamily="34" charset="0"/>
                <a:ea typeface="Cambria" pitchFamily="34" charset="-122"/>
                <a:cs typeface="Cambria" pitchFamily="34" charset="-120"/>
              </a:rPr>
              <a:t>01</a:t>
            </a:r>
            <a:endParaRPr lang="en-US" sz="2600" dirty="0"/>
          </a:p>
        </p:txBody>
      </p:sp>
      <p:sp>
        <p:nvSpPr>
          <p:cNvPr id="5" name="Text 3"/>
          <p:cNvSpPr txBox="1"/>
          <p:nvPr/>
        </p:nvSpPr>
        <p:spPr>
          <a:xfrm>
            <a:off x="1600200" y="1353312"/>
            <a:ext cx="6766560" cy="274320"/>
          </a:xfrm>
          <a:prstGeom prst="rect">
            <a:avLst/>
          </a:prstGeom>
          <a:noFill/>
          <a:ln/>
        </p:spPr>
        <p:txBody>
          <a:bodyPr wrap="square" lIns="0" tIns="0" rIns="0" bIns="0" rtlCol="0" anchor="t"/>
          <a:lstStyle/>
          <a:p>
            <a:pPr indent="0" marL="0">
              <a:buNone/>
            </a:pPr>
            <a:r>
              <a:rPr lang="en-US" sz="1600" b="1" dirty="0">
                <a:solidFill>
                  <a:srgbClr val="1B1F2A"/>
                </a:solidFill>
                <a:latin typeface="Calibri" pitchFamily="34" charset="0"/>
                <a:ea typeface="Calibri" pitchFamily="34" charset="-122"/>
                <a:cs typeface="Calibri" pitchFamily="34" charset="-120"/>
              </a:rPr>
              <a:t>No formal consistency check</a:t>
            </a:r>
            <a:endParaRPr lang="en-US" sz="1600" dirty="0"/>
          </a:p>
        </p:txBody>
      </p:sp>
      <p:sp>
        <p:nvSpPr>
          <p:cNvPr id="6" name="Text 4"/>
          <p:cNvSpPr txBox="1"/>
          <p:nvPr/>
        </p:nvSpPr>
        <p:spPr>
          <a:xfrm>
            <a:off x="1600200" y="1645920"/>
            <a:ext cx="6766560" cy="274320"/>
          </a:xfrm>
          <a:prstGeom prst="rect">
            <a:avLst/>
          </a:prstGeom>
          <a:noFill/>
          <a:ln/>
        </p:spPr>
        <p:txBody>
          <a:bodyPr wrap="square" lIns="0" tIns="0" rIns="0" bIns="0" rtlCol="0" anchor="t"/>
          <a:lstStyle/>
          <a:p>
            <a:pPr indent="0" marL="0">
              <a:buNone/>
            </a:pPr>
            <a:r>
              <a:rPr lang="en-US" sz="1400" dirty="0">
                <a:solidFill>
                  <a:srgbClr val="4B5563"/>
                </a:solidFill>
                <a:latin typeface="Calibri" pitchFamily="34" charset="0"/>
                <a:ea typeface="Calibri" pitchFamily="34" charset="-122"/>
                <a:cs typeface="Calibri" pitchFamily="34" charset="-120"/>
              </a:rPr>
              <a:t>An LLM can contradict itself across turns and nothing detects or proves it.</a:t>
            </a:r>
            <a:endParaRPr lang="en-US" sz="1400" dirty="0"/>
          </a:p>
        </p:txBody>
      </p:sp>
      <p:sp>
        <p:nvSpPr>
          <p:cNvPr id="7" name="Shape 5"/>
          <p:cNvSpPr/>
          <p:nvPr/>
        </p:nvSpPr>
        <p:spPr>
          <a:xfrm>
            <a:off x="548640" y="2103120"/>
            <a:ext cx="8046720" cy="731520"/>
          </a:xfrm>
          <a:prstGeom prst="rect">
            <a:avLst/>
          </a:prstGeom>
          <a:solidFill>
            <a:srgbClr val="F2F4F7"/>
          </a:solidFill>
          <a:ln w="12700">
            <a:solidFill>
              <a:srgbClr val="F2F4F7"/>
            </a:solidFill>
            <a:prstDash val="solid"/>
          </a:ln>
        </p:spPr>
      </p:sp>
      <p:sp>
        <p:nvSpPr>
          <p:cNvPr id="8" name="Text 6"/>
          <p:cNvSpPr txBox="1"/>
          <p:nvPr/>
        </p:nvSpPr>
        <p:spPr>
          <a:xfrm>
            <a:off x="777240" y="2103120"/>
            <a:ext cx="731520" cy="731520"/>
          </a:xfrm>
          <a:prstGeom prst="rect">
            <a:avLst/>
          </a:prstGeom>
          <a:noFill/>
          <a:ln/>
        </p:spPr>
        <p:txBody>
          <a:bodyPr wrap="square" lIns="0" tIns="0" rIns="0" bIns="0" rtlCol="0" anchor="ctr"/>
          <a:lstStyle/>
          <a:p>
            <a:pPr indent="0" marL="0">
              <a:buNone/>
            </a:pPr>
            <a:r>
              <a:rPr lang="en-US" sz="2600" b="1" dirty="0">
                <a:solidFill>
                  <a:srgbClr val="B4452C"/>
                </a:solidFill>
                <a:latin typeface="Cambria" pitchFamily="34" charset="0"/>
                <a:ea typeface="Cambria" pitchFamily="34" charset="-122"/>
                <a:cs typeface="Cambria" pitchFamily="34" charset="-120"/>
              </a:rPr>
              <a:t>02</a:t>
            </a:r>
            <a:endParaRPr lang="en-US" sz="2600" dirty="0"/>
          </a:p>
        </p:txBody>
      </p:sp>
      <p:sp>
        <p:nvSpPr>
          <p:cNvPr id="9" name="Text 7"/>
          <p:cNvSpPr txBox="1"/>
          <p:nvPr/>
        </p:nvSpPr>
        <p:spPr>
          <a:xfrm>
            <a:off x="1600200" y="2176272"/>
            <a:ext cx="6766560" cy="274320"/>
          </a:xfrm>
          <a:prstGeom prst="rect">
            <a:avLst/>
          </a:prstGeom>
          <a:noFill/>
          <a:ln/>
        </p:spPr>
        <p:txBody>
          <a:bodyPr wrap="square" lIns="0" tIns="0" rIns="0" bIns="0" rtlCol="0" anchor="t"/>
          <a:lstStyle/>
          <a:p>
            <a:pPr indent="0" marL="0">
              <a:buNone/>
            </a:pPr>
            <a:r>
              <a:rPr lang="en-US" sz="1600" b="1" dirty="0">
                <a:solidFill>
                  <a:srgbClr val="1B1F2A"/>
                </a:solidFill>
                <a:latin typeface="Calibri" pitchFamily="34" charset="0"/>
                <a:ea typeface="Calibri" pitchFamily="34" charset="-122"/>
                <a:cs typeface="Calibri" pitchFamily="34" charset="-120"/>
              </a:rPr>
              <a:t>No strategic move selection</a:t>
            </a:r>
            <a:endParaRPr lang="en-US" sz="1600" dirty="0"/>
          </a:p>
        </p:txBody>
      </p:sp>
      <p:sp>
        <p:nvSpPr>
          <p:cNvPr id="10" name="Text 8"/>
          <p:cNvSpPr txBox="1"/>
          <p:nvPr/>
        </p:nvSpPr>
        <p:spPr>
          <a:xfrm>
            <a:off x="1600200" y="2468880"/>
            <a:ext cx="6766560" cy="274320"/>
          </a:xfrm>
          <a:prstGeom prst="rect">
            <a:avLst/>
          </a:prstGeom>
          <a:noFill/>
          <a:ln/>
        </p:spPr>
        <p:txBody>
          <a:bodyPr wrap="square" lIns="0" tIns="0" rIns="0" bIns="0" rtlCol="0" anchor="t"/>
          <a:lstStyle/>
          <a:p>
            <a:pPr indent="0" marL="0">
              <a:buNone/>
            </a:pPr>
            <a:r>
              <a:rPr lang="en-US" sz="1400" dirty="0">
                <a:solidFill>
                  <a:srgbClr val="4B5563"/>
                </a:solidFill>
                <a:latin typeface="Calibri" pitchFamily="34" charset="0"/>
                <a:ea typeface="Calibri" pitchFamily="34" charset="-122"/>
                <a:cs typeface="Calibri" pitchFamily="34" charset="-120"/>
              </a:rPr>
              <a:t>Rebuttals come from prompts, with no lookahead over candidate moves.</a:t>
            </a:r>
            <a:endParaRPr lang="en-US" sz="1400" dirty="0"/>
          </a:p>
        </p:txBody>
      </p:sp>
      <p:sp>
        <p:nvSpPr>
          <p:cNvPr id="11" name="Shape 9"/>
          <p:cNvSpPr/>
          <p:nvPr/>
        </p:nvSpPr>
        <p:spPr>
          <a:xfrm>
            <a:off x="548640" y="2926080"/>
            <a:ext cx="8046720" cy="731520"/>
          </a:xfrm>
          <a:prstGeom prst="rect">
            <a:avLst/>
          </a:prstGeom>
          <a:solidFill>
            <a:srgbClr val="F2F4F7"/>
          </a:solidFill>
          <a:ln w="12700">
            <a:solidFill>
              <a:srgbClr val="F2F4F7"/>
            </a:solidFill>
            <a:prstDash val="solid"/>
          </a:ln>
        </p:spPr>
      </p:sp>
      <p:sp>
        <p:nvSpPr>
          <p:cNvPr id="12" name="Text 10"/>
          <p:cNvSpPr txBox="1"/>
          <p:nvPr/>
        </p:nvSpPr>
        <p:spPr>
          <a:xfrm>
            <a:off x="777240" y="2926080"/>
            <a:ext cx="731520" cy="731520"/>
          </a:xfrm>
          <a:prstGeom prst="rect">
            <a:avLst/>
          </a:prstGeom>
          <a:noFill/>
          <a:ln/>
        </p:spPr>
        <p:txBody>
          <a:bodyPr wrap="square" lIns="0" tIns="0" rIns="0" bIns="0" rtlCol="0" anchor="ctr"/>
          <a:lstStyle/>
          <a:p>
            <a:pPr indent="0" marL="0">
              <a:buNone/>
            </a:pPr>
            <a:r>
              <a:rPr lang="en-US" sz="2600" b="1" dirty="0">
                <a:solidFill>
                  <a:srgbClr val="B4452C"/>
                </a:solidFill>
                <a:latin typeface="Cambria" pitchFamily="34" charset="0"/>
                <a:ea typeface="Cambria" pitchFamily="34" charset="-122"/>
                <a:cs typeface="Cambria" pitchFamily="34" charset="-120"/>
              </a:rPr>
              <a:t>03</a:t>
            </a:r>
            <a:endParaRPr lang="en-US" sz="2600" dirty="0"/>
          </a:p>
        </p:txBody>
      </p:sp>
      <p:sp>
        <p:nvSpPr>
          <p:cNvPr id="13" name="Text 11"/>
          <p:cNvSpPr txBox="1"/>
          <p:nvPr/>
        </p:nvSpPr>
        <p:spPr>
          <a:xfrm>
            <a:off x="1600200" y="2999232"/>
            <a:ext cx="6766560" cy="274320"/>
          </a:xfrm>
          <a:prstGeom prst="rect">
            <a:avLst/>
          </a:prstGeom>
          <a:noFill/>
          <a:ln/>
        </p:spPr>
        <p:txBody>
          <a:bodyPr wrap="square" lIns="0" tIns="0" rIns="0" bIns="0" rtlCol="0" anchor="t"/>
          <a:lstStyle/>
          <a:p>
            <a:pPr indent="0" marL="0">
              <a:buNone/>
            </a:pPr>
            <a:r>
              <a:rPr lang="en-US" sz="1600" b="1" dirty="0">
                <a:solidFill>
                  <a:srgbClr val="1B1F2A"/>
                </a:solidFill>
                <a:latin typeface="Calibri" pitchFamily="34" charset="0"/>
                <a:ea typeface="Calibri" pitchFamily="34" charset="-122"/>
                <a:cs typeface="Calibri" pitchFamily="34" charset="-120"/>
              </a:rPr>
              <a:t>Ungrounded claims</a:t>
            </a:r>
            <a:endParaRPr lang="en-US" sz="1600" dirty="0"/>
          </a:p>
        </p:txBody>
      </p:sp>
      <p:sp>
        <p:nvSpPr>
          <p:cNvPr id="14" name="Text 12"/>
          <p:cNvSpPr txBox="1"/>
          <p:nvPr/>
        </p:nvSpPr>
        <p:spPr>
          <a:xfrm>
            <a:off x="1600200" y="3291840"/>
            <a:ext cx="6766560" cy="274320"/>
          </a:xfrm>
          <a:prstGeom prst="rect">
            <a:avLst/>
          </a:prstGeom>
          <a:noFill/>
          <a:ln/>
        </p:spPr>
        <p:txBody>
          <a:bodyPr wrap="square" lIns="0" tIns="0" rIns="0" bIns="0" rtlCol="0" anchor="t"/>
          <a:lstStyle/>
          <a:p>
            <a:pPr indent="0" marL="0">
              <a:buNone/>
            </a:pPr>
            <a:r>
              <a:rPr lang="en-US" sz="1400" dirty="0">
                <a:solidFill>
                  <a:srgbClr val="4B5563"/>
                </a:solidFill>
                <a:latin typeface="Calibri" pitchFamily="34" charset="0"/>
                <a:ea typeface="Calibri" pitchFamily="34" charset="-122"/>
                <a:cs typeface="Calibri" pitchFamily="34" charset="-120"/>
              </a:rPr>
              <a:t>Facts are generated on the fly, so hallucinations pass unchecked.</a:t>
            </a:r>
            <a:endParaRPr lang="en-US" sz="1400" dirty="0"/>
          </a:p>
        </p:txBody>
      </p:sp>
      <p:sp>
        <p:nvSpPr>
          <p:cNvPr id="15" name="Shape 13"/>
          <p:cNvSpPr/>
          <p:nvPr/>
        </p:nvSpPr>
        <p:spPr>
          <a:xfrm>
            <a:off x="548640" y="3749040"/>
            <a:ext cx="8046720" cy="731520"/>
          </a:xfrm>
          <a:prstGeom prst="rect">
            <a:avLst/>
          </a:prstGeom>
          <a:solidFill>
            <a:srgbClr val="F2F4F7"/>
          </a:solidFill>
          <a:ln w="12700">
            <a:solidFill>
              <a:srgbClr val="F2F4F7"/>
            </a:solidFill>
            <a:prstDash val="solid"/>
          </a:ln>
        </p:spPr>
      </p:sp>
      <p:sp>
        <p:nvSpPr>
          <p:cNvPr id="16" name="Text 14"/>
          <p:cNvSpPr txBox="1"/>
          <p:nvPr/>
        </p:nvSpPr>
        <p:spPr>
          <a:xfrm>
            <a:off x="777240" y="3749040"/>
            <a:ext cx="731520" cy="731520"/>
          </a:xfrm>
          <a:prstGeom prst="rect">
            <a:avLst/>
          </a:prstGeom>
          <a:noFill/>
          <a:ln/>
        </p:spPr>
        <p:txBody>
          <a:bodyPr wrap="square" lIns="0" tIns="0" rIns="0" bIns="0" rtlCol="0" anchor="ctr"/>
          <a:lstStyle/>
          <a:p>
            <a:pPr indent="0" marL="0">
              <a:buNone/>
            </a:pPr>
            <a:r>
              <a:rPr lang="en-US" sz="2600" b="1" dirty="0">
                <a:solidFill>
                  <a:srgbClr val="B4452C"/>
                </a:solidFill>
                <a:latin typeface="Cambria" pitchFamily="34" charset="0"/>
                <a:ea typeface="Cambria" pitchFamily="34" charset="-122"/>
                <a:cs typeface="Cambria" pitchFamily="34" charset="-120"/>
              </a:rPr>
              <a:t>04</a:t>
            </a:r>
            <a:endParaRPr lang="en-US" sz="2600" dirty="0"/>
          </a:p>
        </p:txBody>
      </p:sp>
      <p:sp>
        <p:nvSpPr>
          <p:cNvPr id="17" name="Text 15"/>
          <p:cNvSpPr txBox="1"/>
          <p:nvPr/>
        </p:nvSpPr>
        <p:spPr>
          <a:xfrm>
            <a:off x="1600200" y="3822192"/>
            <a:ext cx="6766560" cy="274320"/>
          </a:xfrm>
          <a:prstGeom prst="rect">
            <a:avLst/>
          </a:prstGeom>
          <a:noFill/>
          <a:ln/>
        </p:spPr>
        <p:txBody>
          <a:bodyPr wrap="square" lIns="0" tIns="0" rIns="0" bIns="0" rtlCol="0" anchor="t"/>
          <a:lstStyle/>
          <a:p>
            <a:pPr indent="0" marL="0">
              <a:buNone/>
            </a:pPr>
            <a:r>
              <a:rPr lang="en-US" sz="1600" b="1" dirty="0">
                <a:solidFill>
                  <a:srgbClr val="1B1F2A"/>
                </a:solidFill>
                <a:latin typeface="Calibri" pitchFamily="34" charset="0"/>
                <a:ea typeface="Calibri" pitchFamily="34" charset="-122"/>
                <a:cs typeface="Calibri" pitchFamily="34" charset="-120"/>
              </a:rPr>
              <a:t>One model does everything</a:t>
            </a:r>
            <a:endParaRPr lang="en-US" sz="1600" dirty="0"/>
          </a:p>
        </p:txBody>
      </p:sp>
      <p:sp>
        <p:nvSpPr>
          <p:cNvPr id="18" name="Text 16"/>
          <p:cNvSpPr txBox="1"/>
          <p:nvPr/>
        </p:nvSpPr>
        <p:spPr>
          <a:xfrm>
            <a:off x="1600200" y="4114800"/>
            <a:ext cx="6766560" cy="274320"/>
          </a:xfrm>
          <a:prstGeom prst="rect">
            <a:avLst/>
          </a:prstGeom>
          <a:noFill/>
          <a:ln/>
        </p:spPr>
        <p:txBody>
          <a:bodyPr wrap="square" lIns="0" tIns="0" rIns="0" bIns="0" rtlCol="0" anchor="t"/>
          <a:lstStyle/>
          <a:p>
            <a:pPr indent="0" marL="0">
              <a:buNone/>
            </a:pPr>
            <a:r>
              <a:rPr lang="en-US" sz="1400" dirty="0">
                <a:solidFill>
                  <a:srgbClr val="4B5563"/>
                </a:solidFill>
                <a:latin typeface="Calibri" pitchFamily="34" charset="0"/>
                <a:ea typeface="Calibri" pitchFamily="34" charset="-122"/>
                <a:cs typeface="Calibri" pitchFamily="34" charset="-120"/>
              </a:rPr>
              <a:t>The same LLM reasons, judges and speaks, so its reasoning cannot be audited.</a:t>
            </a:r>
            <a:endParaRPr lang="en-US" sz="1400" dirty="0"/>
          </a:p>
        </p:txBody>
      </p:sp>
      <p:sp>
        <p:nvSpPr>
          <p:cNvPr id="25" name="Slide Number Placeholder 0"/>
          <p:cNvSpPr>
            <a:spLocks noGrp="1"/>
          </p:cNvSpPr>
          <p:nvPr>
            <p:ph type="sldNum" sz="quarter" idx="4294967295"/>
          </p:nvPr>
        </p:nvSpPr>
        <p:spPr>
          <a:xfrm>
            <a:off x="813816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rgbClr val="1B1F2A"/>
                </a:solidFill>
                <a:latin typeface="Cambria" pitchFamily="34" charset="0"/>
                <a:ea typeface="Cambria" pitchFamily="34" charset="-122"/>
                <a:cs typeface="Cambria" pitchFamily="34" charset="-120"/>
              </a:rPr>
              <a:t>Research Objective</a:t>
            </a:r>
            <a:endParaRPr lang="en-US" sz="3200" dirty="0"/>
          </a:p>
        </p:txBody>
      </p:sp>
      <p:sp>
        <p:nvSpPr>
          <p:cNvPr id="3" name="Shape 1"/>
          <p:cNvSpPr/>
          <p:nvPr/>
        </p:nvSpPr>
        <p:spPr>
          <a:xfrm>
            <a:off x="548640" y="1280160"/>
            <a:ext cx="3108960" cy="731520"/>
          </a:xfrm>
          <a:prstGeom prst="rect">
            <a:avLst/>
          </a:prstGeom>
          <a:solidFill>
            <a:srgbClr val="F2F4F7"/>
          </a:solidFill>
          <a:ln w="12700">
            <a:solidFill>
              <a:srgbClr val="F2F4F7"/>
            </a:solidFill>
            <a:prstDash val="solid"/>
          </a:ln>
        </p:spPr>
      </p:sp>
      <p:sp>
        <p:nvSpPr>
          <p:cNvPr id="4" name="Text 2"/>
          <p:cNvSpPr txBox="1"/>
          <p:nvPr/>
        </p:nvSpPr>
        <p:spPr>
          <a:xfrm>
            <a:off x="731520" y="1280160"/>
            <a:ext cx="2743200" cy="731520"/>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No formal consistency check</a:t>
            </a:r>
            <a:endParaRPr lang="en-US" sz="1400" dirty="0"/>
          </a:p>
        </p:txBody>
      </p:sp>
      <p:sp>
        <p:nvSpPr>
          <p:cNvPr id="5" name="Text 3"/>
          <p:cNvSpPr txBox="1"/>
          <p:nvPr/>
        </p:nvSpPr>
        <p:spPr>
          <a:xfrm>
            <a:off x="3657600" y="1280160"/>
            <a:ext cx="548640" cy="731520"/>
          </a:xfrm>
          <a:prstGeom prst="rect">
            <a:avLst/>
          </a:prstGeom>
          <a:noFill/>
          <a:ln/>
        </p:spPr>
        <p:txBody>
          <a:bodyPr wrap="square" lIns="0" tIns="0" rIns="0" bIns="0" rtlCol="0" anchor="ctr"/>
          <a:lstStyle/>
          <a:p>
            <a:pPr algn="ctr" indent="0" marL="0">
              <a:buNone/>
            </a:pPr>
            <a:r>
              <a:rPr lang="en-US" sz="2600" dirty="0">
                <a:solidFill>
                  <a:srgbClr val="B4452C"/>
                </a:solidFill>
                <a:latin typeface="Calibri" pitchFamily="34" charset="0"/>
                <a:ea typeface="Calibri" pitchFamily="34" charset="-122"/>
                <a:cs typeface="Calibri" pitchFamily="34" charset="-120"/>
              </a:rPr>
              <a:t>→</a:t>
            </a:r>
            <a:endParaRPr lang="en-US" sz="2600" dirty="0"/>
          </a:p>
        </p:txBody>
      </p:sp>
      <p:sp>
        <p:nvSpPr>
          <p:cNvPr id="6" name="Shape 4"/>
          <p:cNvSpPr/>
          <p:nvPr/>
        </p:nvSpPr>
        <p:spPr>
          <a:xfrm>
            <a:off x="4206240" y="1280160"/>
            <a:ext cx="4389120" cy="731520"/>
          </a:xfrm>
          <a:prstGeom prst="rect">
            <a:avLst/>
          </a:prstGeom>
          <a:solidFill>
            <a:srgbClr val="1B1F2A"/>
          </a:solidFill>
          <a:ln w="12700">
            <a:solidFill>
              <a:srgbClr val="1B1F2A"/>
            </a:solidFill>
            <a:prstDash val="solid"/>
          </a:ln>
        </p:spPr>
      </p:sp>
      <p:sp>
        <p:nvSpPr>
          <p:cNvPr id="7" name="Text 5"/>
          <p:cNvSpPr txBox="1"/>
          <p:nvPr/>
        </p:nvSpPr>
        <p:spPr>
          <a:xfrm>
            <a:off x="4389120" y="1280160"/>
            <a:ext cx="4023360" cy="7315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Verify every claim with CNF resolution refutation and record the proof steps</a:t>
            </a:r>
            <a:endParaRPr lang="en-US" sz="1400" dirty="0"/>
          </a:p>
        </p:txBody>
      </p:sp>
      <p:sp>
        <p:nvSpPr>
          <p:cNvPr id="8" name="Shape 6"/>
          <p:cNvSpPr/>
          <p:nvPr/>
        </p:nvSpPr>
        <p:spPr>
          <a:xfrm>
            <a:off x="548640" y="2103120"/>
            <a:ext cx="3108960" cy="731520"/>
          </a:xfrm>
          <a:prstGeom prst="rect">
            <a:avLst/>
          </a:prstGeom>
          <a:solidFill>
            <a:srgbClr val="F2F4F7"/>
          </a:solidFill>
          <a:ln w="12700">
            <a:solidFill>
              <a:srgbClr val="F2F4F7"/>
            </a:solidFill>
            <a:prstDash val="solid"/>
          </a:ln>
        </p:spPr>
      </p:sp>
      <p:sp>
        <p:nvSpPr>
          <p:cNvPr id="9" name="Text 7"/>
          <p:cNvSpPr txBox="1"/>
          <p:nvPr/>
        </p:nvSpPr>
        <p:spPr>
          <a:xfrm>
            <a:off x="731520" y="2103120"/>
            <a:ext cx="2743200" cy="731520"/>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No strategic move selection</a:t>
            </a:r>
            <a:endParaRPr lang="en-US" sz="1400" dirty="0"/>
          </a:p>
        </p:txBody>
      </p:sp>
      <p:sp>
        <p:nvSpPr>
          <p:cNvPr id="10" name="Text 8"/>
          <p:cNvSpPr txBox="1"/>
          <p:nvPr/>
        </p:nvSpPr>
        <p:spPr>
          <a:xfrm>
            <a:off x="3657600" y="2103120"/>
            <a:ext cx="548640" cy="731520"/>
          </a:xfrm>
          <a:prstGeom prst="rect">
            <a:avLst/>
          </a:prstGeom>
          <a:noFill/>
          <a:ln/>
        </p:spPr>
        <p:txBody>
          <a:bodyPr wrap="square" lIns="0" tIns="0" rIns="0" bIns="0" rtlCol="0" anchor="ctr"/>
          <a:lstStyle/>
          <a:p>
            <a:pPr algn="ctr" indent="0" marL="0">
              <a:buNone/>
            </a:pPr>
            <a:r>
              <a:rPr lang="en-US" sz="2600" dirty="0">
                <a:solidFill>
                  <a:srgbClr val="B4452C"/>
                </a:solidFill>
                <a:latin typeface="Calibri" pitchFamily="34" charset="0"/>
                <a:ea typeface="Calibri" pitchFamily="34" charset="-122"/>
                <a:cs typeface="Calibri" pitchFamily="34" charset="-120"/>
              </a:rPr>
              <a:t>→</a:t>
            </a:r>
            <a:endParaRPr lang="en-US" sz="2600" dirty="0"/>
          </a:p>
        </p:txBody>
      </p:sp>
      <p:sp>
        <p:nvSpPr>
          <p:cNvPr id="11" name="Shape 9"/>
          <p:cNvSpPr/>
          <p:nvPr/>
        </p:nvSpPr>
        <p:spPr>
          <a:xfrm>
            <a:off x="4206240" y="2103120"/>
            <a:ext cx="4389120" cy="731520"/>
          </a:xfrm>
          <a:prstGeom prst="rect">
            <a:avLst/>
          </a:prstGeom>
          <a:solidFill>
            <a:srgbClr val="1B1F2A"/>
          </a:solidFill>
          <a:ln w="12700">
            <a:solidFill>
              <a:srgbClr val="1B1F2A"/>
            </a:solidFill>
            <a:prstDash val="solid"/>
          </a:ln>
        </p:spPr>
      </p:sp>
      <p:sp>
        <p:nvSpPr>
          <p:cNvPr id="12" name="Text 10"/>
          <p:cNvSpPr txBox="1"/>
          <p:nvPr/>
        </p:nvSpPr>
        <p:spPr>
          <a:xfrm>
            <a:off x="4389120" y="2103120"/>
            <a:ext cx="4023360" cy="7315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Choose each argument with MCTS (UCB1, 32 resolution-scored simulations)</a:t>
            </a:r>
            <a:endParaRPr lang="en-US" sz="1400" dirty="0"/>
          </a:p>
        </p:txBody>
      </p:sp>
      <p:sp>
        <p:nvSpPr>
          <p:cNvPr id="13" name="Shape 11"/>
          <p:cNvSpPr/>
          <p:nvPr/>
        </p:nvSpPr>
        <p:spPr>
          <a:xfrm>
            <a:off x="548640" y="2926080"/>
            <a:ext cx="3108960" cy="731520"/>
          </a:xfrm>
          <a:prstGeom prst="rect">
            <a:avLst/>
          </a:prstGeom>
          <a:solidFill>
            <a:srgbClr val="F2F4F7"/>
          </a:solidFill>
          <a:ln w="12700">
            <a:solidFill>
              <a:srgbClr val="F2F4F7"/>
            </a:solidFill>
            <a:prstDash val="solid"/>
          </a:ln>
        </p:spPr>
      </p:sp>
      <p:sp>
        <p:nvSpPr>
          <p:cNvPr id="14" name="Text 12"/>
          <p:cNvSpPr txBox="1"/>
          <p:nvPr/>
        </p:nvSpPr>
        <p:spPr>
          <a:xfrm>
            <a:off x="731520" y="2926080"/>
            <a:ext cx="2743200" cy="731520"/>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Ungrounded claims</a:t>
            </a:r>
            <a:endParaRPr lang="en-US" sz="1400" dirty="0"/>
          </a:p>
        </p:txBody>
      </p:sp>
      <p:sp>
        <p:nvSpPr>
          <p:cNvPr id="15" name="Text 13"/>
          <p:cNvSpPr txBox="1"/>
          <p:nvPr/>
        </p:nvSpPr>
        <p:spPr>
          <a:xfrm>
            <a:off x="3657600" y="2926080"/>
            <a:ext cx="548640" cy="731520"/>
          </a:xfrm>
          <a:prstGeom prst="rect">
            <a:avLst/>
          </a:prstGeom>
          <a:noFill/>
          <a:ln/>
        </p:spPr>
        <p:txBody>
          <a:bodyPr wrap="square" lIns="0" tIns="0" rIns="0" bIns="0" rtlCol="0" anchor="ctr"/>
          <a:lstStyle/>
          <a:p>
            <a:pPr algn="ctr" indent="0" marL="0">
              <a:buNone/>
            </a:pPr>
            <a:r>
              <a:rPr lang="en-US" sz="2600" dirty="0">
                <a:solidFill>
                  <a:srgbClr val="B4452C"/>
                </a:solidFill>
                <a:latin typeface="Calibri" pitchFamily="34" charset="0"/>
                <a:ea typeface="Calibri" pitchFamily="34" charset="-122"/>
                <a:cs typeface="Calibri" pitchFamily="34" charset="-120"/>
              </a:rPr>
              <a:t>→</a:t>
            </a:r>
            <a:endParaRPr lang="en-US" sz="2600" dirty="0"/>
          </a:p>
        </p:txBody>
      </p:sp>
      <p:sp>
        <p:nvSpPr>
          <p:cNvPr id="16" name="Shape 14"/>
          <p:cNvSpPr/>
          <p:nvPr/>
        </p:nvSpPr>
        <p:spPr>
          <a:xfrm>
            <a:off x="4206240" y="2926080"/>
            <a:ext cx="4389120" cy="731520"/>
          </a:xfrm>
          <a:prstGeom prst="rect">
            <a:avLst/>
          </a:prstGeom>
          <a:solidFill>
            <a:srgbClr val="1B1F2A"/>
          </a:solidFill>
          <a:ln w="12700">
            <a:solidFill>
              <a:srgbClr val="1B1F2A"/>
            </a:solidFill>
            <a:prstDash val="solid"/>
          </a:ln>
        </p:spPr>
      </p:sp>
      <p:sp>
        <p:nvSpPr>
          <p:cNvPr id="17" name="Text 15"/>
          <p:cNvSpPr txBox="1"/>
          <p:nvPr/>
        </p:nvSpPr>
        <p:spPr>
          <a:xfrm>
            <a:off x="4389120" y="2926080"/>
            <a:ext cx="4023360" cy="7315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Build a 20-fact base once and retrieve the best fact by cosine similarity</a:t>
            </a:r>
            <a:endParaRPr lang="en-US" sz="1400" dirty="0"/>
          </a:p>
        </p:txBody>
      </p:sp>
      <p:sp>
        <p:nvSpPr>
          <p:cNvPr id="18" name="Shape 16"/>
          <p:cNvSpPr/>
          <p:nvPr/>
        </p:nvSpPr>
        <p:spPr>
          <a:xfrm>
            <a:off x="548640" y="3749040"/>
            <a:ext cx="3108960" cy="731520"/>
          </a:xfrm>
          <a:prstGeom prst="rect">
            <a:avLst/>
          </a:prstGeom>
          <a:solidFill>
            <a:srgbClr val="F2F4F7"/>
          </a:solidFill>
          <a:ln w="12700">
            <a:solidFill>
              <a:srgbClr val="F2F4F7"/>
            </a:solidFill>
            <a:prstDash val="solid"/>
          </a:ln>
        </p:spPr>
      </p:sp>
      <p:sp>
        <p:nvSpPr>
          <p:cNvPr id="19" name="Text 17"/>
          <p:cNvSpPr txBox="1"/>
          <p:nvPr/>
        </p:nvSpPr>
        <p:spPr>
          <a:xfrm>
            <a:off x="731520" y="3749040"/>
            <a:ext cx="2743200" cy="731520"/>
          </a:xfrm>
          <a:prstGeom prst="rect">
            <a:avLst/>
          </a:prstGeom>
          <a:noFill/>
          <a:ln/>
        </p:spPr>
        <p:txBody>
          <a:bodyPr wrap="square" lIns="0" tIns="0" rIns="0" bIns="0" rtlCol="0" anchor="ctr"/>
          <a:lstStyle/>
          <a:p>
            <a:pPr indent="0" marL="0">
              <a:buNone/>
            </a:pPr>
            <a:r>
              <a:rPr lang="en-US" sz="1400" b="1" dirty="0">
                <a:solidFill>
                  <a:srgbClr val="1B1F2A"/>
                </a:solidFill>
                <a:latin typeface="Calibri" pitchFamily="34" charset="0"/>
                <a:ea typeface="Calibri" pitchFamily="34" charset="-122"/>
                <a:cs typeface="Calibri" pitchFamily="34" charset="-120"/>
              </a:rPr>
              <a:t>One model does everything</a:t>
            </a:r>
            <a:endParaRPr lang="en-US" sz="1400" dirty="0"/>
          </a:p>
        </p:txBody>
      </p:sp>
      <p:sp>
        <p:nvSpPr>
          <p:cNvPr id="20" name="Text 18"/>
          <p:cNvSpPr txBox="1"/>
          <p:nvPr/>
        </p:nvSpPr>
        <p:spPr>
          <a:xfrm>
            <a:off x="3657600" y="3749040"/>
            <a:ext cx="548640" cy="731520"/>
          </a:xfrm>
          <a:prstGeom prst="rect">
            <a:avLst/>
          </a:prstGeom>
          <a:noFill/>
          <a:ln/>
        </p:spPr>
        <p:txBody>
          <a:bodyPr wrap="square" lIns="0" tIns="0" rIns="0" bIns="0" rtlCol="0" anchor="ctr"/>
          <a:lstStyle/>
          <a:p>
            <a:pPr algn="ctr" indent="0" marL="0">
              <a:buNone/>
            </a:pPr>
            <a:r>
              <a:rPr lang="en-US" sz="2600" dirty="0">
                <a:solidFill>
                  <a:srgbClr val="B4452C"/>
                </a:solidFill>
                <a:latin typeface="Calibri" pitchFamily="34" charset="0"/>
                <a:ea typeface="Calibri" pitchFamily="34" charset="-122"/>
                <a:cs typeface="Calibri" pitchFamily="34" charset="-120"/>
              </a:rPr>
              <a:t>→</a:t>
            </a:r>
            <a:endParaRPr lang="en-US" sz="2600" dirty="0"/>
          </a:p>
        </p:txBody>
      </p:sp>
      <p:sp>
        <p:nvSpPr>
          <p:cNvPr id="21" name="Shape 19"/>
          <p:cNvSpPr/>
          <p:nvPr/>
        </p:nvSpPr>
        <p:spPr>
          <a:xfrm>
            <a:off x="4206240" y="3749040"/>
            <a:ext cx="4389120" cy="731520"/>
          </a:xfrm>
          <a:prstGeom prst="rect">
            <a:avLst/>
          </a:prstGeom>
          <a:solidFill>
            <a:srgbClr val="1B1F2A"/>
          </a:solidFill>
          <a:ln w="12700">
            <a:solidFill>
              <a:srgbClr val="1B1F2A"/>
            </a:solidFill>
            <a:prstDash val="solid"/>
          </a:ln>
        </p:spPr>
      </p:sp>
      <p:sp>
        <p:nvSpPr>
          <p:cNvPr id="22" name="Text 20"/>
          <p:cNvSpPr txBox="1"/>
          <p:nvPr/>
        </p:nvSpPr>
        <p:spPr>
          <a:xfrm>
            <a:off x="4389120" y="3749040"/>
            <a:ext cx="4023360" cy="7315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Let the LLM only propose and phrase candidates; MCTS decides</a:t>
            </a:r>
            <a:endParaRPr lang="en-US" sz="1400" dirty="0"/>
          </a:p>
        </p:txBody>
      </p:sp>
      <p:sp>
        <p:nvSpPr>
          <p:cNvPr id="25" name="Slide Number Placeholder 0"/>
          <p:cNvSpPr>
            <a:spLocks noGrp="1"/>
          </p:cNvSpPr>
          <p:nvPr>
            <p:ph type="sldNum" sz="quarter" idx="4294967295"/>
          </p:nvPr>
        </p:nvSpPr>
        <p:spPr>
          <a:xfrm>
            <a:off x="813816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Proposed Work: Architecture</a:t>
            </a:r>
            <a:endParaRPr lang="en-US" sz="3200" dirty="0"/>
          </a:p>
        </p:txBody>
      </p:sp>
      <p:pic>
        <p:nvPicPr>
          <p:cNvPr id="3" name="Image 0" descr="System architecture and workflow of the Agentic Debate Arena">    </p:cNvPr>
          <p:cNvPicPr>
            <a:picLocks noChangeAspect="1"/>
          </p:cNvPicPr>
          <p:nvPr/>
        </p:nvPicPr>
        <p:blipFill>
          <a:blip r:embed="rId1"/>
          <a:stretch>
            <a:fillRect/>
          </a:stretch>
        </p:blipFill>
        <p:spPr>
          <a:xfrm>
            <a:off x="1811259" y="1097280"/>
            <a:ext cx="5521482" cy="3886200"/>
          </a:xfrm>
          <a:prstGeom prst="rect">
            <a:avLst/>
          </a:prstGeom>
        </p:spPr>
      </p:pic>
      <p:sp>
        <p:nvSpPr>
          <p:cNvPr id="25" name="Slide Number Placeholder 0"/>
          <p:cNvSpPr>
            <a:spLocks noGrp="1"/>
          </p:cNvSpPr>
          <p:nvPr>
            <p:ph type="sldNum" sz="quarter" idx="4294967295"/>
          </p:nvPr>
        </p:nvSpPr>
        <p:spPr>
          <a:xfrm>
            <a:off x="813816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rgbClr val="1B1F2A"/>
                </a:solidFill>
                <a:latin typeface="Cambria" pitchFamily="34" charset="0"/>
                <a:ea typeface="Cambria" pitchFamily="34" charset="-122"/>
                <a:cs typeface="Cambria" pitchFamily="34" charset="-120"/>
              </a:rPr>
              <a:t>Proposed Work: Algorithm</a:t>
            </a:r>
            <a:endParaRPr lang="en-US" sz="3200" dirty="0"/>
          </a:p>
        </p:txBody>
      </p:sp>
      <p:sp>
        <p:nvSpPr>
          <p:cNvPr id="3" name="Shape 1"/>
          <p:cNvSpPr/>
          <p:nvPr/>
        </p:nvSpPr>
        <p:spPr>
          <a:xfrm>
            <a:off x="548640" y="1280160"/>
            <a:ext cx="3931920" cy="3200400"/>
          </a:xfrm>
          <a:prstGeom prst="rect">
            <a:avLst/>
          </a:prstGeom>
          <a:solidFill>
            <a:srgbClr val="F2F4F7"/>
          </a:solidFill>
          <a:ln w="12700">
            <a:solidFill>
              <a:srgbClr val="F2F4F7"/>
            </a:solidFill>
            <a:prstDash val="solid"/>
          </a:ln>
        </p:spPr>
      </p:sp>
      <p:sp>
        <p:nvSpPr>
          <p:cNvPr id="4" name="Text 2"/>
          <p:cNvSpPr txBox="1"/>
          <p:nvPr/>
        </p:nvSpPr>
        <p:spPr>
          <a:xfrm>
            <a:off x="777240" y="1417320"/>
            <a:ext cx="3474720" cy="365760"/>
          </a:xfrm>
          <a:prstGeom prst="rect">
            <a:avLst/>
          </a:prstGeom>
          <a:noFill/>
          <a:ln/>
        </p:spPr>
        <p:txBody>
          <a:bodyPr wrap="square" lIns="0" tIns="0" rIns="0" bIns="0" rtlCol="0" anchor="t"/>
          <a:lstStyle/>
          <a:p>
            <a:pPr indent="0" marL="0">
              <a:buNone/>
            </a:pPr>
            <a:r>
              <a:rPr lang="en-US" sz="1800" b="1" dirty="0">
                <a:solidFill>
                  <a:srgbClr val="1B1F2A"/>
                </a:solidFill>
                <a:latin typeface="Cambria" pitchFamily="34" charset="0"/>
                <a:ea typeface="Cambria" pitchFamily="34" charset="-122"/>
                <a:cs typeface="Cambria" pitchFamily="34" charset="-120"/>
              </a:rPr>
              <a:t>MCTS: pick the rebuttal</a:t>
            </a:r>
            <a:endParaRPr lang="en-US" sz="1800" dirty="0"/>
          </a:p>
        </p:txBody>
      </p:sp>
      <p:sp>
        <p:nvSpPr>
          <p:cNvPr id="5" name="Text 3"/>
          <p:cNvSpPr txBox="1"/>
          <p:nvPr/>
        </p:nvSpPr>
        <p:spPr>
          <a:xfrm>
            <a:off x="777240" y="1920240"/>
            <a:ext cx="274320" cy="365760"/>
          </a:xfrm>
          <a:prstGeom prst="rect">
            <a:avLst/>
          </a:prstGeom>
          <a:noFill/>
          <a:ln/>
        </p:spPr>
        <p:txBody>
          <a:bodyPr wrap="square" lIns="0" tIns="0" rIns="0" bIns="0" rtlCol="0" anchor="t"/>
          <a:lstStyle/>
          <a:p>
            <a:pPr indent="0" marL="0">
              <a:buNone/>
            </a:pPr>
            <a:r>
              <a:rPr lang="en-US" sz="1600" b="1" dirty="0">
                <a:solidFill>
                  <a:srgbClr val="B4452C"/>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097280" y="1920240"/>
            <a:ext cx="3200400" cy="365760"/>
          </a:xfrm>
          <a:prstGeom prst="rect">
            <a:avLst/>
          </a:prstGeom>
          <a:noFill/>
          <a:ln/>
        </p:spPr>
        <p:txBody>
          <a:bodyPr wrap="square" lIns="0" tIns="0" rIns="0" bIns="0" rtlCol="0" anchor="t"/>
          <a:lstStyle/>
          <a:p>
            <a:pPr indent="0" marL="0">
              <a:buNone/>
            </a:pPr>
            <a:r>
              <a:rPr lang="en-US" sz="1400" dirty="0">
                <a:solidFill>
                  <a:srgbClr val="1B1F2A"/>
                </a:solidFill>
                <a:latin typeface="Calibri" pitchFamily="34" charset="0"/>
                <a:ea typeface="Calibri" pitchFamily="34" charset="-122"/>
                <a:cs typeface="Calibri" pitchFamily="34" charset="-120"/>
              </a:rPr>
              <a:t>Selection by highest UCB1</a:t>
            </a:r>
            <a:endParaRPr lang="en-US" sz="1400" dirty="0"/>
          </a:p>
        </p:txBody>
      </p:sp>
      <p:sp>
        <p:nvSpPr>
          <p:cNvPr id="7" name="Text 5"/>
          <p:cNvSpPr txBox="1"/>
          <p:nvPr/>
        </p:nvSpPr>
        <p:spPr>
          <a:xfrm>
            <a:off x="777240" y="2377440"/>
            <a:ext cx="274320" cy="365760"/>
          </a:xfrm>
          <a:prstGeom prst="rect">
            <a:avLst/>
          </a:prstGeom>
          <a:noFill/>
          <a:ln/>
        </p:spPr>
        <p:txBody>
          <a:bodyPr wrap="square" lIns="0" tIns="0" rIns="0" bIns="0" rtlCol="0" anchor="t"/>
          <a:lstStyle/>
          <a:p>
            <a:pPr indent="0" marL="0">
              <a:buNone/>
            </a:pPr>
            <a:r>
              <a:rPr lang="en-US" sz="1600" b="1" dirty="0">
                <a:solidFill>
                  <a:srgbClr val="B4452C"/>
                </a:solidFill>
                <a:latin typeface="Calibri" pitchFamily="34" charset="0"/>
                <a:ea typeface="Calibri" pitchFamily="34" charset="-122"/>
                <a:cs typeface="Calibri" pitchFamily="34" charset="-120"/>
              </a:rPr>
              <a:t>2</a:t>
            </a:r>
            <a:endParaRPr lang="en-US" sz="1600" dirty="0"/>
          </a:p>
        </p:txBody>
      </p:sp>
      <p:sp>
        <p:nvSpPr>
          <p:cNvPr id="8" name="Text 6"/>
          <p:cNvSpPr txBox="1"/>
          <p:nvPr/>
        </p:nvSpPr>
        <p:spPr>
          <a:xfrm>
            <a:off x="1097280" y="2377440"/>
            <a:ext cx="3200400" cy="365760"/>
          </a:xfrm>
          <a:prstGeom prst="rect">
            <a:avLst/>
          </a:prstGeom>
          <a:noFill/>
          <a:ln/>
        </p:spPr>
        <p:txBody>
          <a:bodyPr wrap="square" lIns="0" tIns="0" rIns="0" bIns="0" rtlCol="0" anchor="t"/>
          <a:lstStyle/>
          <a:p>
            <a:pPr indent="0" marL="0">
              <a:buNone/>
            </a:pPr>
            <a:r>
              <a:rPr lang="en-US" sz="1400" dirty="0">
                <a:solidFill>
                  <a:srgbClr val="1B1F2A"/>
                </a:solidFill>
                <a:latin typeface="Calibri" pitchFamily="34" charset="0"/>
                <a:ea typeface="Calibri" pitchFamily="34" charset="-122"/>
                <a:cs typeface="Calibri" pitchFamily="34" charset="-120"/>
              </a:rPr>
              <a:t>Expansion with an untried candidate</a:t>
            </a:r>
            <a:endParaRPr lang="en-US" sz="1400" dirty="0"/>
          </a:p>
        </p:txBody>
      </p:sp>
      <p:sp>
        <p:nvSpPr>
          <p:cNvPr id="9" name="Text 7"/>
          <p:cNvSpPr txBox="1"/>
          <p:nvPr/>
        </p:nvSpPr>
        <p:spPr>
          <a:xfrm>
            <a:off x="777240" y="2834640"/>
            <a:ext cx="274320" cy="365760"/>
          </a:xfrm>
          <a:prstGeom prst="rect">
            <a:avLst/>
          </a:prstGeom>
          <a:noFill/>
          <a:ln/>
        </p:spPr>
        <p:txBody>
          <a:bodyPr wrap="square" lIns="0" tIns="0" rIns="0" bIns="0" rtlCol="0" anchor="t"/>
          <a:lstStyle/>
          <a:p>
            <a:pPr indent="0" marL="0">
              <a:buNone/>
            </a:pPr>
            <a:r>
              <a:rPr lang="en-US" sz="1600" b="1" dirty="0">
                <a:solidFill>
                  <a:srgbClr val="B4452C"/>
                </a:solidFill>
                <a:latin typeface="Calibri" pitchFamily="34" charset="0"/>
                <a:ea typeface="Calibri" pitchFamily="34" charset="-122"/>
                <a:cs typeface="Calibri" pitchFamily="34" charset="-120"/>
              </a:rPr>
              <a:t>3</a:t>
            </a:r>
            <a:endParaRPr lang="en-US" sz="1600" dirty="0"/>
          </a:p>
        </p:txBody>
      </p:sp>
      <p:sp>
        <p:nvSpPr>
          <p:cNvPr id="10" name="Text 8"/>
          <p:cNvSpPr txBox="1"/>
          <p:nvPr/>
        </p:nvSpPr>
        <p:spPr>
          <a:xfrm>
            <a:off x="1097280" y="2834640"/>
            <a:ext cx="3200400" cy="365760"/>
          </a:xfrm>
          <a:prstGeom prst="rect">
            <a:avLst/>
          </a:prstGeom>
          <a:noFill/>
          <a:ln/>
        </p:spPr>
        <p:txBody>
          <a:bodyPr wrap="square" lIns="0" tIns="0" rIns="0" bIns="0" rtlCol="0" anchor="t"/>
          <a:lstStyle/>
          <a:p>
            <a:pPr indent="0" marL="0">
              <a:buNone/>
            </a:pPr>
            <a:r>
              <a:rPr lang="en-US" sz="1400" dirty="0">
                <a:solidFill>
                  <a:srgbClr val="1B1F2A"/>
                </a:solidFill>
                <a:latin typeface="Calibri" pitchFamily="34" charset="0"/>
                <a:ea typeface="Calibri" pitchFamily="34" charset="-122"/>
                <a:cs typeface="Calibri" pitchFamily="34" charset="-120"/>
              </a:rPr>
              <a:t>Simulation by resolution rollout</a:t>
            </a:r>
            <a:endParaRPr lang="en-US" sz="1400" dirty="0"/>
          </a:p>
        </p:txBody>
      </p:sp>
      <p:sp>
        <p:nvSpPr>
          <p:cNvPr id="11" name="Text 9"/>
          <p:cNvSpPr txBox="1"/>
          <p:nvPr/>
        </p:nvSpPr>
        <p:spPr>
          <a:xfrm>
            <a:off x="777240" y="3291840"/>
            <a:ext cx="274320" cy="365760"/>
          </a:xfrm>
          <a:prstGeom prst="rect">
            <a:avLst/>
          </a:prstGeom>
          <a:noFill/>
          <a:ln/>
        </p:spPr>
        <p:txBody>
          <a:bodyPr wrap="square" lIns="0" tIns="0" rIns="0" bIns="0" rtlCol="0" anchor="t"/>
          <a:lstStyle/>
          <a:p>
            <a:pPr indent="0" marL="0">
              <a:buNone/>
            </a:pPr>
            <a:r>
              <a:rPr lang="en-US" sz="1600" b="1" dirty="0">
                <a:solidFill>
                  <a:srgbClr val="B4452C"/>
                </a:solidFill>
                <a:latin typeface="Calibri" pitchFamily="34" charset="0"/>
                <a:ea typeface="Calibri" pitchFamily="34" charset="-122"/>
                <a:cs typeface="Calibri" pitchFamily="34" charset="-120"/>
              </a:rPr>
              <a:t>4</a:t>
            </a:r>
            <a:endParaRPr lang="en-US" sz="1600" dirty="0"/>
          </a:p>
        </p:txBody>
      </p:sp>
      <p:sp>
        <p:nvSpPr>
          <p:cNvPr id="12" name="Text 10"/>
          <p:cNvSpPr txBox="1"/>
          <p:nvPr/>
        </p:nvSpPr>
        <p:spPr>
          <a:xfrm>
            <a:off x="1097280" y="3291840"/>
            <a:ext cx="3200400" cy="365760"/>
          </a:xfrm>
          <a:prstGeom prst="rect">
            <a:avLst/>
          </a:prstGeom>
          <a:noFill/>
          <a:ln/>
        </p:spPr>
        <p:txBody>
          <a:bodyPr wrap="square" lIns="0" tIns="0" rIns="0" bIns="0" rtlCol="0" anchor="t"/>
          <a:lstStyle/>
          <a:p>
            <a:pPr indent="0" marL="0">
              <a:buNone/>
            </a:pPr>
            <a:r>
              <a:rPr lang="en-US" sz="1400" dirty="0">
                <a:solidFill>
                  <a:srgbClr val="1B1F2A"/>
                </a:solidFill>
                <a:latin typeface="Calibri" pitchFamily="34" charset="0"/>
                <a:ea typeface="Calibri" pitchFamily="34" charset="-122"/>
                <a:cs typeface="Calibri" pitchFamily="34" charset="-120"/>
              </a:rPr>
              <a:t>Backpropagation of value</a:t>
            </a:r>
            <a:endParaRPr lang="en-US" sz="1400" dirty="0"/>
          </a:p>
        </p:txBody>
      </p:sp>
      <p:sp>
        <p:nvSpPr>
          <p:cNvPr id="13" name="Text 11"/>
          <p:cNvSpPr txBox="1"/>
          <p:nvPr/>
        </p:nvSpPr>
        <p:spPr>
          <a:xfrm>
            <a:off x="777240" y="3886200"/>
            <a:ext cx="3474720" cy="457200"/>
          </a:xfrm>
          <a:prstGeom prst="rect">
            <a:avLst/>
          </a:prstGeom>
          <a:noFill/>
          <a:ln/>
        </p:spPr>
        <p:txBody>
          <a:bodyPr wrap="square" lIns="0" tIns="0" rIns="0" bIns="0" rtlCol="0" anchor="ctr"/>
          <a:lstStyle/>
          <a:p>
            <a:pPr indent="0" marL="0">
              <a:buNone/>
            </a:pPr>
            <a:r>
              <a:rPr lang="en-US" sz="1400" i="1" dirty="0">
                <a:solidFill>
                  <a:srgbClr val="B4452C"/>
                </a:solidFill>
                <a:latin typeface="Cambria" pitchFamily="34" charset="0"/>
                <a:ea typeface="Cambria" pitchFamily="34" charset="-122"/>
                <a:cs typeface="Cambria" pitchFamily="34" charset="-120"/>
              </a:rPr>
              <a:t>UCB1 = W/N + √2 · √(ln Np / N)</a:t>
            </a:r>
            <a:endParaRPr lang="en-US" sz="1400" dirty="0"/>
          </a:p>
        </p:txBody>
      </p:sp>
      <p:sp>
        <p:nvSpPr>
          <p:cNvPr id="14" name="Shape 12"/>
          <p:cNvSpPr/>
          <p:nvPr/>
        </p:nvSpPr>
        <p:spPr>
          <a:xfrm>
            <a:off x="4663440" y="1280160"/>
            <a:ext cx="3931920" cy="3200400"/>
          </a:xfrm>
          <a:prstGeom prst="rect">
            <a:avLst/>
          </a:prstGeom>
          <a:solidFill>
            <a:srgbClr val="F2F4F7"/>
          </a:solidFill>
          <a:ln w="12700">
            <a:solidFill>
              <a:srgbClr val="F2F4F7"/>
            </a:solidFill>
            <a:prstDash val="solid"/>
          </a:ln>
        </p:spPr>
      </p:sp>
      <p:sp>
        <p:nvSpPr>
          <p:cNvPr id="15" name="Text 13"/>
          <p:cNvSpPr txBox="1"/>
          <p:nvPr/>
        </p:nvSpPr>
        <p:spPr>
          <a:xfrm>
            <a:off x="4892040" y="1417320"/>
            <a:ext cx="3474720" cy="365760"/>
          </a:xfrm>
          <a:prstGeom prst="rect">
            <a:avLst/>
          </a:prstGeom>
          <a:noFill/>
          <a:ln/>
        </p:spPr>
        <p:txBody>
          <a:bodyPr wrap="square" lIns="0" tIns="0" rIns="0" bIns="0" rtlCol="0" anchor="t"/>
          <a:lstStyle/>
          <a:p>
            <a:pPr indent="0" marL="0">
              <a:buNone/>
            </a:pPr>
            <a:r>
              <a:rPr lang="en-US" sz="1800" b="1" dirty="0">
                <a:solidFill>
                  <a:srgbClr val="1B1F2A"/>
                </a:solidFill>
                <a:latin typeface="Cambria" pitchFamily="34" charset="0"/>
                <a:ea typeface="Cambria" pitchFamily="34" charset="-122"/>
                <a:cs typeface="Cambria" pitchFamily="34" charset="-120"/>
              </a:rPr>
              <a:t>Resolution: prove contradiction</a:t>
            </a:r>
            <a:endParaRPr lang="en-US" sz="1800" dirty="0"/>
          </a:p>
        </p:txBody>
      </p:sp>
      <p:sp>
        <p:nvSpPr>
          <p:cNvPr id="16" name="Text 14"/>
          <p:cNvSpPr txBox="1"/>
          <p:nvPr/>
        </p:nvSpPr>
        <p:spPr>
          <a:xfrm>
            <a:off x="4892040" y="1920240"/>
            <a:ext cx="274320" cy="365760"/>
          </a:xfrm>
          <a:prstGeom prst="rect">
            <a:avLst/>
          </a:prstGeom>
          <a:noFill/>
          <a:ln/>
        </p:spPr>
        <p:txBody>
          <a:bodyPr wrap="square" lIns="0" tIns="0" rIns="0" bIns="0" rtlCol="0" anchor="t"/>
          <a:lstStyle/>
          <a:p>
            <a:pPr indent="0" marL="0">
              <a:buNone/>
            </a:pPr>
            <a:r>
              <a:rPr lang="en-US" sz="1600" b="1" dirty="0">
                <a:solidFill>
                  <a:srgbClr val="B4452C"/>
                </a:solidFill>
                <a:latin typeface="Calibri" pitchFamily="34" charset="0"/>
                <a:ea typeface="Calibri" pitchFamily="34" charset="-122"/>
                <a:cs typeface="Calibri" pitchFamily="34" charset="-120"/>
              </a:rPr>
              <a:t>1</a:t>
            </a:r>
            <a:endParaRPr lang="en-US" sz="1600" dirty="0"/>
          </a:p>
        </p:txBody>
      </p:sp>
      <p:sp>
        <p:nvSpPr>
          <p:cNvPr id="17" name="Text 15"/>
          <p:cNvSpPr txBox="1"/>
          <p:nvPr/>
        </p:nvSpPr>
        <p:spPr>
          <a:xfrm>
            <a:off x="5212080" y="1920240"/>
            <a:ext cx="3200400" cy="365760"/>
          </a:xfrm>
          <a:prstGeom prst="rect">
            <a:avLst/>
          </a:prstGeom>
          <a:noFill/>
          <a:ln/>
        </p:spPr>
        <p:txBody>
          <a:bodyPr wrap="square" lIns="0" tIns="0" rIns="0" bIns="0" rtlCol="0" anchor="t"/>
          <a:lstStyle/>
          <a:p>
            <a:pPr indent="0" marL="0">
              <a:buNone/>
            </a:pPr>
            <a:r>
              <a:rPr lang="en-US" sz="1400" dirty="0">
                <a:solidFill>
                  <a:srgbClr val="1B1F2A"/>
                </a:solidFill>
                <a:latin typeface="Calibri" pitchFamily="34" charset="0"/>
                <a:ea typeface="Calibri" pitchFamily="34" charset="-122"/>
                <a:cs typeface="Calibri" pitchFamily="34" charset="-120"/>
              </a:rPr>
              <a:t>Convert each claim to a CNF clause</a:t>
            </a:r>
            <a:endParaRPr lang="en-US" sz="1400" dirty="0"/>
          </a:p>
        </p:txBody>
      </p:sp>
      <p:sp>
        <p:nvSpPr>
          <p:cNvPr id="18" name="Text 16"/>
          <p:cNvSpPr txBox="1"/>
          <p:nvPr/>
        </p:nvSpPr>
        <p:spPr>
          <a:xfrm>
            <a:off x="4892040" y="2377440"/>
            <a:ext cx="274320" cy="365760"/>
          </a:xfrm>
          <a:prstGeom prst="rect">
            <a:avLst/>
          </a:prstGeom>
          <a:noFill/>
          <a:ln/>
        </p:spPr>
        <p:txBody>
          <a:bodyPr wrap="square" lIns="0" tIns="0" rIns="0" bIns="0" rtlCol="0" anchor="t"/>
          <a:lstStyle/>
          <a:p>
            <a:pPr indent="0" marL="0">
              <a:buNone/>
            </a:pPr>
            <a:r>
              <a:rPr lang="en-US" sz="1600" b="1" dirty="0">
                <a:solidFill>
                  <a:srgbClr val="B4452C"/>
                </a:solidFill>
                <a:latin typeface="Calibri" pitchFamily="34" charset="0"/>
                <a:ea typeface="Calibri" pitchFamily="34" charset="-122"/>
                <a:cs typeface="Calibri" pitchFamily="34" charset="-120"/>
              </a:rPr>
              <a:t>2</a:t>
            </a:r>
            <a:endParaRPr lang="en-US" sz="1600" dirty="0"/>
          </a:p>
        </p:txBody>
      </p:sp>
      <p:sp>
        <p:nvSpPr>
          <p:cNvPr id="19" name="Text 17"/>
          <p:cNvSpPr txBox="1"/>
          <p:nvPr/>
        </p:nvSpPr>
        <p:spPr>
          <a:xfrm>
            <a:off x="5212080" y="2377440"/>
            <a:ext cx="3200400" cy="365760"/>
          </a:xfrm>
          <a:prstGeom prst="rect">
            <a:avLst/>
          </a:prstGeom>
          <a:noFill/>
          <a:ln/>
        </p:spPr>
        <p:txBody>
          <a:bodyPr wrap="square" lIns="0" tIns="0" rIns="0" bIns="0" rtlCol="0" anchor="t"/>
          <a:lstStyle/>
          <a:p>
            <a:pPr indent="0" marL="0">
              <a:buNone/>
            </a:pPr>
            <a:r>
              <a:rPr lang="en-US" sz="1400" dirty="0">
                <a:solidFill>
                  <a:srgbClr val="1B1F2A"/>
                </a:solidFill>
                <a:latin typeface="Calibri" pitchFamily="34" charset="0"/>
                <a:ea typeface="Calibri" pitchFamily="34" charset="-122"/>
                <a:cs typeface="Calibri" pitchFamily="34" charset="-120"/>
              </a:rPr>
              <a:t>Resolve pairs holding L and ¬L</a:t>
            </a:r>
            <a:endParaRPr lang="en-US" sz="1400" dirty="0"/>
          </a:p>
        </p:txBody>
      </p:sp>
      <p:sp>
        <p:nvSpPr>
          <p:cNvPr id="20" name="Text 18"/>
          <p:cNvSpPr txBox="1"/>
          <p:nvPr/>
        </p:nvSpPr>
        <p:spPr>
          <a:xfrm>
            <a:off x="4892040" y="2834640"/>
            <a:ext cx="274320" cy="365760"/>
          </a:xfrm>
          <a:prstGeom prst="rect">
            <a:avLst/>
          </a:prstGeom>
          <a:noFill/>
          <a:ln/>
        </p:spPr>
        <p:txBody>
          <a:bodyPr wrap="square" lIns="0" tIns="0" rIns="0" bIns="0" rtlCol="0" anchor="t"/>
          <a:lstStyle/>
          <a:p>
            <a:pPr indent="0" marL="0">
              <a:buNone/>
            </a:pPr>
            <a:r>
              <a:rPr lang="en-US" sz="1600" b="1" dirty="0">
                <a:solidFill>
                  <a:srgbClr val="B4452C"/>
                </a:solidFill>
                <a:latin typeface="Calibri" pitchFamily="34" charset="0"/>
                <a:ea typeface="Calibri" pitchFamily="34" charset="-122"/>
                <a:cs typeface="Calibri" pitchFamily="34" charset="-120"/>
              </a:rPr>
              <a:t>3</a:t>
            </a:r>
            <a:endParaRPr lang="en-US" sz="1600" dirty="0"/>
          </a:p>
        </p:txBody>
      </p:sp>
      <p:sp>
        <p:nvSpPr>
          <p:cNvPr id="21" name="Text 19"/>
          <p:cNvSpPr txBox="1"/>
          <p:nvPr/>
        </p:nvSpPr>
        <p:spPr>
          <a:xfrm>
            <a:off x="5212080" y="2834640"/>
            <a:ext cx="3200400" cy="365760"/>
          </a:xfrm>
          <a:prstGeom prst="rect">
            <a:avLst/>
          </a:prstGeom>
          <a:noFill/>
          <a:ln/>
        </p:spPr>
        <p:txBody>
          <a:bodyPr wrap="square" lIns="0" tIns="0" rIns="0" bIns="0" rtlCol="0" anchor="t"/>
          <a:lstStyle/>
          <a:p>
            <a:pPr indent="0" marL="0">
              <a:buNone/>
            </a:pPr>
            <a:r>
              <a:rPr lang="en-US" sz="1400" dirty="0">
                <a:solidFill>
                  <a:srgbClr val="1B1F2A"/>
                </a:solidFill>
                <a:latin typeface="Calibri" pitchFamily="34" charset="0"/>
                <a:ea typeface="Calibri" pitchFamily="34" charset="-122"/>
                <a:cs typeface="Calibri" pitchFamily="34" charset="-120"/>
              </a:rPr>
              <a:t>Add the new resolvents</a:t>
            </a:r>
            <a:endParaRPr lang="en-US" sz="1400" dirty="0"/>
          </a:p>
        </p:txBody>
      </p:sp>
      <p:sp>
        <p:nvSpPr>
          <p:cNvPr id="22" name="Text 20"/>
          <p:cNvSpPr txBox="1"/>
          <p:nvPr/>
        </p:nvSpPr>
        <p:spPr>
          <a:xfrm>
            <a:off x="4892040" y="3291840"/>
            <a:ext cx="274320" cy="365760"/>
          </a:xfrm>
          <a:prstGeom prst="rect">
            <a:avLst/>
          </a:prstGeom>
          <a:noFill/>
          <a:ln/>
        </p:spPr>
        <p:txBody>
          <a:bodyPr wrap="square" lIns="0" tIns="0" rIns="0" bIns="0" rtlCol="0" anchor="t"/>
          <a:lstStyle/>
          <a:p>
            <a:pPr indent="0" marL="0">
              <a:buNone/>
            </a:pPr>
            <a:r>
              <a:rPr lang="en-US" sz="1600" b="1" dirty="0">
                <a:solidFill>
                  <a:srgbClr val="B4452C"/>
                </a:solidFill>
                <a:latin typeface="Calibri" pitchFamily="34" charset="0"/>
                <a:ea typeface="Calibri" pitchFamily="34" charset="-122"/>
                <a:cs typeface="Calibri" pitchFamily="34" charset="-120"/>
              </a:rPr>
              <a:t>4</a:t>
            </a:r>
            <a:endParaRPr lang="en-US" sz="1600" dirty="0"/>
          </a:p>
        </p:txBody>
      </p:sp>
      <p:sp>
        <p:nvSpPr>
          <p:cNvPr id="23" name="Text 21"/>
          <p:cNvSpPr txBox="1"/>
          <p:nvPr/>
        </p:nvSpPr>
        <p:spPr>
          <a:xfrm>
            <a:off x="5212080" y="3291840"/>
            <a:ext cx="3200400" cy="365760"/>
          </a:xfrm>
          <a:prstGeom prst="rect">
            <a:avLst/>
          </a:prstGeom>
          <a:noFill/>
          <a:ln/>
        </p:spPr>
        <p:txBody>
          <a:bodyPr wrap="square" lIns="0" tIns="0" rIns="0" bIns="0" rtlCol="0" anchor="t"/>
          <a:lstStyle/>
          <a:p>
            <a:pPr indent="0" marL="0">
              <a:buNone/>
            </a:pPr>
            <a:r>
              <a:rPr lang="en-US" sz="1400" dirty="0">
                <a:solidFill>
                  <a:srgbClr val="1B1F2A"/>
                </a:solidFill>
                <a:latin typeface="Calibri" pitchFamily="34" charset="0"/>
                <a:ea typeface="Calibri" pitchFamily="34" charset="-122"/>
                <a:cs typeface="Calibri" pitchFamily="34" charset="-120"/>
              </a:rPr>
              <a:t>Empty clause ⊥ means contradiction</a:t>
            </a:r>
            <a:endParaRPr lang="en-US" sz="1400" dirty="0"/>
          </a:p>
        </p:txBody>
      </p:sp>
      <p:sp>
        <p:nvSpPr>
          <p:cNvPr id="24" name="Text 22"/>
          <p:cNvSpPr txBox="1"/>
          <p:nvPr/>
        </p:nvSpPr>
        <p:spPr>
          <a:xfrm>
            <a:off x="4892040" y="3886200"/>
            <a:ext cx="3474720" cy="457200"/>
          </a:xfrm>
          <a:prstGeom prst="rect">
            <a:avLst/>
          </a:prstGeom>
          <a:noFill/>
          <a:ln/>
        </p:spPr>
        <p:txBody>
          <a:bodyPr wrap="square" lIns="0" tIns="0" rIns="0" bIns="0" rtlCol="0" anchor="ctr"/>
          <a:lstStyle/>
          <a:p>
            <a:pPr indent="0" marL="0">
              <a:buNone/>
            </a:pPr>
            <a:r>
              <a:rPr lang="en-US" sz="1400" i="1" dirty="0">
                <a:solidFill>
                  <a:srgbClr val="B4452C"/>
                </a:solidFill>
                <a:latin typeface="Cambria" pitchFamily="34" charset="0"/>
                <a:ea typeface="Cambria" pitchFamily="34" charset="-122"/>
                <a:cs typeface="Cambria" pitchFamily="34" charset="-120"/>
              </a:rPr>
              <a:t>(A ∨ B), (¬A ∨ C)  ⊢  (B ∨ C)</a:t>
            </a:r>
            <a:endParaRPr lang="en-US" sz="1400" dirty="0"/>
          </a:p>
        </p:txBody>
      </p:sp>
      <p:sp>
        <p:nvSpPr>
          <p:cNvPr id="25" name="Slide Number Placeholder 0"/>
          <p:cNvSpPr>
            <a:spLocks noGrp="1"/>
          </p:cNvSpPr>
          <p:nvPr>
            <p:ph type="sldNum" sz="quarter" idx="4294967295"/>
          </p:nvPr>
        </p:nvSpPr>
        <p:spPr>
          <a:xfrm>
            <a:off x="813816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rgbClr val="1B1F2A"/>
                </a:solidFill>
                <a:latin typeface="Cambria" pitchFamily="34" charset="0"/>
                <a:ea typeface="Cambria" pitchFamily="34" charset="-122"/>
                <a:cs typeface="Cambria" pitchFamily="34" charset="-120"/>
              </a:rPr>
              <a:t>Implementation</a:t>
            </a:r>
            <a:endParaRPr lang="en-US" sz="3200" dirty="0"/>
          </a:p>
        </p:txBody>
      </p:sp>
      <p:sp>
        <p:nvSpPr>
          <p:cNvPr id="3" name="Shape 1"/>
          <p:cNvSpPr/>
          <p:nvPr/>
        </p:nvSpPr>
        <p:spPr>
          <a:xfrm>
            <a:off x="548640" y="1280160"/>
            <a:ext cx="2560320" cy="3200400"/>
          </a:xfrm>
          <a:prstGeom prst="rect">
            <a:avLst/>
          </a:prstGeom>
          <a:solidFill>
            <a:srgbClr val="F2F4F7"/>
          </a:solidFill>
          <a:ln w="12700">
            <a:solidFill>
              <a:srgbClr val="F2F4F7"/>
            </a:solidFill>
            <a:prstDash val="solid"/>
          </a:ln>
        </p:spPr>
      </p:sp>
      <p:sp>
        <p:nvSpPr>
          <p:cNvPr id="4" name="Text 2"/>
          <p:cNvSpPr txBox="1"/>
          <p:nvPr/>
        </p:nvSpPr>
        <p:spPr>
          <a:xfrm>
            <a:off x="731520" y="1389888"/>
            <a:ext cx="2194560" cy="365760"/>
          </a:xfrm>
          <a:prstGeom prst="rect">
            <a:avLst/>
          </a:prstGeom>
          <a:noFill/>
          <a:ln/>
        </p:spPr>
        <p:txBody>
          <a:bodyPr wrap="square" lIns="0" tIns="0" rIns="0" bIns="0" rtlCol="0" anchor="t"/>
          <a:lstStyle/>
          <a:p>
            <a:pPr indent="0" marL="0">
              <a:buNone/>
            </a:pPr>
            <a:r>
              <a:rPr lang="en-US" sz="2000" b="1" dirty="0">
                <a:solidFill>
                  <a:srgbClr val="1B1F2A"/>
                </a:solidFill>
                <a:latin typeface="Cambria" pitchFamily="34" charset="0"/>
                <a:ea typeface="Cambria" pitchFamily="34" charset="-122"/>
                <a:cs typeface="Cambria" pitchFamily="34" charset="-120"/>
              </a:rPr>
              <a:t>Hardware</a:t>
            </a:r>
            <a:endParaRPr lang="en-US" sz="2000" dirty="0"/>
          </a:p>
        </p:txBody>
      </p:sp>
      <p:sp>
        <p:nvSpPr>
          <p:cNvPr id="5" name="Text 3"/>
          <p:cNvSpPr txBox="1"/>
          <p:nvPr/>
        </p:nvSpPr>
        <p:spPr>
          <a:xfrm>
            <a:off x="731520" y="1874520"/>
            <a:ext cx="2240280" cy="2514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B5563"/>
                </a:solidFill>
                <a:latin typeface="Calibri" pitchFamily="34" charset="0"/>
                <a:ea typeface="Calibri" pitchFamily="34" charset="-122"/>
                <a:cs typeface="Calibri" pitchFamily="34" charset="-120"/>
              </a:rPr>
              <a:t>Standard laptop or PC</a:t>
            </a:r>
            <a:endParaRPr lang="en-US" sz="1400" dirty="0"/>
          </a:p>
          <a:p>
            <a:pPr marL="342900" indent="-342900">
              <a:spcAft>
                <a:spcPts val="600"/>
              </a:spcAft>
              <a:buSzPct val="100000"/>
              <a:buChar char="•"/>
            </a:pPr>
            <a:r>
              <a:rPr lang="en-US" sz="1400" dirty="0">
                <a:solidFill>
                  <a:srgbClr val="4B5563"/>
                </a:solidFill>
                <a:latin typeface="Calibri" pitchFamily="34" charset="0"/>
                <a:ea typeface="Calibri" pitchFamily="34" charset="-122"/>
                <a:cs typeface="Calibri" pitchFamily="34" charset="-120"/>
              </a:rPr>
              <a:t>No local GPU needed</a:t>
            </a:r>
            <a:endParaRPr lang="en-US" sz="1400" dirty="0"/>
          </a:p>
          <a:p>
            <a:pPr marL="342900" indent="-342900">
              <a:spcAft>
                <a:spcPts val="600"/>
              </a:spcAft>
              <a:buSzPct val="100000"/>
              <a:buChar char="•"/>
            </a:pPr>
            <a:r>
              <a:rPr lang="en-US" sz="1400" dirty="0">
                <a:solidFill>
                  <a:srgbClr val="4B5563"/>
                </a:solidFill>
                <a:latin typeface="Calibri" pitchFamily="34" charset="0"/>
                <a:ea typeface="Calibri" pitchFamily="34" charset="-122"/>
                <a:cs typeface="Calibri" pitchFamily="34" charset="-120"/>
              </a:rPr>
              <a:t>LLMs via Groq, OpenRouter, Gemini, NVIDIA NIM</a:t>
            </a:r>
            <a:endParaRPr lang="en-US" sz="1400" dirty="0"/>
          </a:p>
          <a:p>
            <a:pPr marL="342900" indent="-342900">
              <a:spcAft>
                <a:spcPts val="600"/>
              </a:spcAft>
              <a:buSzPct val="100000"/>
              <a:buChar char="•"/>
            </a:pPr>
            <a:r>
              <a:rPr lang="en-US" sz="1400" dirty="0">
                <a:solidFill>
                  <a:srgbClr val="4B5563"/>
                </a:solidFill>
                <a:latin typeface="Calibri" pitchFamily="34" charset="0"/>
                <a:ea typeface="Calibri" pitchFamily="34" charset="-122"/>
                <a:cs typeface="Calibri" pitchFamily="34" charset="-120"/>
              </a:rPr>
              <a:t>Internet access for LLM APIs</a:t>
            </a:r>
            <a:endParaRPr lang="en-US" sz="1400" dirty="0"/>
          </a:p>
          <a:p>
            <a:pPr marL="342900" indent="-342900">
              <a:spcAft>
                <a:spcPts val="600"/>
              </a:spcAft>
              <a:buSzPct val="100000"/>
              <a:buChar char="•"/>
            </a:pPr>
            <a:r>
              <a:rPr lang="en-US" sz="1400" dirty="0">
                <a:solidFill>
                  <a:srgbClr val="4B5563"/>
                </a:solidFill>
                <a:latin typeface="Calibri" pitchFamily="34" charset="0"/>
                <a:ea typeface="Calibri" pitchFamily="34" charset="-122"/>
                <a:cs typeface="Calibri" pitchFamily="34" charset="-120"/>
              </a:rPr>
              <a:t>Browser for the React UI</a:t>
            </a:r>
            <a:endParaRPr lang="en-US" sz="1400" dirty="0"/>
          </a:p>
        </p:txBody>
      </p:sp>
      <p:sp>
        <p:nvSpPr>
          <p:cNvPr id="6" name="Shape 4"/>
          <p:cNvSpPr/>
          <p:nvPr/>
        </p:nvSpPr>
        <p:spPr>
          <a:xfrm>
            <a:off x="3291840" y="1280160"/>
            <a:ext cx="2560320" cy="3200400"/>
          </a:xfrm>
          <a:prstGeom prst="rect">
            <a:avLst/>
          </a:prstGeom>
          <a:solidFill>
            <a:srgbClr val="F2F4F7"/>
          </a:solidFill>
          <a:ln w="12700">
            <a:solidFill>
              <a:srgbClr val="F2F4F7"/>
            </a:solidFill>
            <a:prstDash val="solid"/>
          </a:ln>
        </p:spPr>
      </p:sp>
      <p:sp>
        <p:nvSpPr>
          <p:cNvPr id="7" name="Text 5"/>
          <p:cNvSpPr txBox="1"/>
          <p:nvPr/>
        </p:nvSpPr>
        <p:spPr>
          <a:xfrm>
            <a:off x="3474720" y="1389888"/>
            <a:ext cx="2194560" cy="365760"/>
          </a:xfrm>
          <a:prstGeom prst="rect">
            <a:avLst/>
          </a:prstGeom>
          <a:noFill/>
          <a:ln/>
        </p:spPr>
        <p:txBody>
          <a:bodyPr wrap="square" lIns="0" tIns="0" rIns="0" bIns="0" rtlCol="0" anchor="t"/>
          <a:lstStyle/>
          <a:p>
            <a:pPr indent="0" marL="0">
              <a:buNone/>
            </a:pPr>
            <a:r>
              <a:rPr lang="en-US" sz="2000" b="1" dirty="0">
                <a:solidFill>
                  <a:srgbClr val="1B1F2A"/>
                </a:solidFill>
                <a:latin typeface="Cambria" pitchFamily="34" charset="0"/>
                <a:ea typeface="Cambria" pitchFamily="34" charset="-122"/>
                <a:cs typeface="Cambria" pitchFamily="34" charset="-120"/>
              </a:rPr>
              <a:t>Software</a:t>
            </a:r>
            <a:endParaRPr lang="en-US" sz="2000" dirty="0"/>
          </a:p>
        </p:txBody>
      </p:sp>
      <p:sp>
        <p:nvSpPr>
          <p:cNvPr id="8" name="Text 6"/>
          <p:cNvSpPr txBox="1"/>
          <p:nvPr/>
        </p:nvSpPr>
        <p:spPr>
          <a:xfrm>
            <a:off x="3474720" y="1874520"/>
            <a:ext cx="2240280" cy="2514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B5563"/>
                </a:solidFill>
                <a:latin typeface="Calibri" pitchFamily="34" charset="0"/>
                <a:ea typeface="Calibri" pitchFamily="34" charset="-122"/>
                <a:cs typeface="Calibri" pitchFamily="34" charset="-120"/>
              </a:rPr>
              <a:t>Python 3.10+</a:t>
            </a:r>
            <a:endParaRPr lang="en-US" sz="1400" dirty="0"/>
          </a:p>
          <a:p>
            <a:pPr marL="342900" indent="-342900">
              <a:spcAft>
                <a:spcPts val="600"/>
              </a:spcAft>
              <a:buSzPct val="100000"/>
              <a:buChar char="•"/>
            </a:pPr>
            <a:r>
              <a:rPr lang="en-US" sz="1400" dirty="0">
                <a:solidFill>
                  <a:srgbClr val="4B5563"/>
                </a:solidFill>
                <a:latin typeface="Calibri" pitchFamily="34" charset="0"/>
                <a:ea typeface="Calibri" pitchFamily="34" charset="-122"/>
                <a:cs typeface="Calibri" pitchFamily="34" charset="-120"/>
              </a:rPr>
              <a:t>FastAPI, Pydantic, NumPy</a:t>
            </a:r>
            <a:endParaRPr lang="en-US" sz="1400" dirty="0"/>
          </a:p>
          <a:p>
            <a:pPr marL="342900" indent="-342900">
              <a:spcAft>
                <a:spcPts val="600"/>
              </a:spcAft>
              <a:buSzPct val="100000"/>
              <a:buChar char="•"/>
            </a:pPr>
            <a:r>
              <a:rPr lang="en-US" sz="1400" dirty="0">
                <a:solidFill>
                  <a:srgbClr val="4B5563"/>
                </a:solidFill>
                <a:latin typeface="Calibri" pitchFamily="34" charset="0"/>
                <a:ea typeface="Calibri" pitchFamily="34" charset="-122"/>
                <a:cs typeface="Calibri" pitchFamily="34" charset="-120"/>
              </a:rPr>
              <a:t>React 18, Vite 5, TailwindCSS</a:t>
            </a:r>
            <a:endParaRPr lang="en-US" sz="1400" dirty="0"/>
          </a:p>
          <a:p>
            <a:pPr marL="342900" indent="-342900">
              <a:spcAft>
                <a:spcPts val="600"/>
              </a:spcAft>
              <a:buSzPct val="100000"/>
              <a:buChar char="•"/>
            </a:pPr>
            <a:r>
              <a:rPr lang="en-US" sz="1400" dirty="0">
                <a:solidFill>
                  <a:srgbClr val="4B5563"/>
                </a:solidFill>
                <a:latin typeface="Calibri" pitchFamily="34" charset="0"/>
                <a:ea typeface="Calibri" pitchFamily="34" charset="-122"/>
                <a:cs typeface="Calibri" pitchFamily="34" charset="-120"/>
              </a:rPr>
              <a:t>Google GenAI and OpenAI SDKs</a:t>
            </a:r>
            <a:endParaRPr lang="en-US" sz="1400" dirty="0"/>
          </a:p>
          <a:p>
            <a:pPr marL="342900" indent="-342900">
              <a:spcAft>
                <a:spcPts val="600"/>
              </a:spcAft>
              <a:buSzPct val="100000"/>
              <a:buChar char="•"/>
            </a:pPr>
            <a:r>
              <a:rPr lang="en-US" sz="1400" dirty="0">
                <a:solidFill>
                  <a:srgbClr val="4B5563"/>
                </a:solidFill>
                <a:latin typeface="Calibri" pitchFamily="34" charset="0"/>
                <a:ea typeface="Calibri" pitchFamily="34" charset="-122"/>
                <a:cs typeface="Calibri" pitchFamily="34" charset="-120"/>
              </a:rPr>
              <a:t>pytest for testing</a:t>
            </a:r>
            <a:endParaRPr lang="en-US" sz="1400" dirty="0"/>
          </a:p>
        </p:txBody>
      </p:sp>
      <p:sp>
        <p:nvSpPr>
          <p:cNvPr id="9" name="Shape 7"/>
          <p:cNvSpPr/>
          <p:nvPr/>
        </p:nvSpPr>
        <p:spPr>
          <a:xfrm>
            <a:off x="6035040" y="1280160"/>
            <a:ext cx="2560320" cy="3200400"/>
          </a:xfrm>
          <a:prstGeom prst="rect">
            <a:avLst/>
          </a:prstGeom>
          <a:solidFill>
            <a:srgbClr val="F2F4F7"/>
          </a:solidFill>
          <a:ln w="12700">
            <a:solidFill>
              <a:srgbClr val="F2F4F7"/>
            </a:solidFill>
            <a:prstDash val="solid"/>
          </a:ln>
        </p:spPr>
      </p:sp>
      <p:sp>
        <p:nvSpPr>
          <p:cNvPr id="10" name="Text 8"/>
          <p:cNvSpPr txBox="1"/>
          <p:nvPr/>
        </p:nvSpPr>
        <p:spPr>
          <a:xfrm>
            <a:off x="6217920" y="1389888"/>
            <a:ext cx="2194560" cy="365760"/>
          </a:xfrm>
          <a:prstGeom prst="rect">
            <a:avLst/>
          </a:prstGeom>
          <a:noFill/>
          <a:ln/>
        </p:spPr>
        <p:txBody>
          <a:bodyPr wrap="square" lIns="0" tIns="0" rIns="0" bIns="0" rtlCol="0" anchor="t"/>
          <a:lstStyle/>
          <a:p>
            <a:pPr indent="0" marL="0">
              <a:buNone/>
            </a:pPr>
            <a:r>
              <a:rPr lang="en-US" sz="2000" b="1" dirty="0">
                <a:solidFill>
                  <a:srgbClr val="1B1F2A"/>
                </a:solidFill>
                <a:latin typeface="Cambria" pitchFamily="34" charset="0"/>
                <a:ea typeface="Cambria" pitchFamily="34" charset="-122"/>
                <a:cs typeface="Cambria" pitchFamily="34" charset="-120"/>
              </a:rPr>
              <a:t>Specifications</a:t>
            </a:r>
            <a:endParaRPr lang="en-US" sz="2000" dirty="0"/>
          </a:p>
        </p:txBody>
      </p:sp>
      <p:sp>
        <p:nvSpPr>
          <p:cNvPr id="11" name="Text 9"/>
          <p:cNvSpPr txBox="1"/>
          <p:nvPr/>
        </p:nvSpPr>
        <p:spPr>
          <a:xfrm>
            <a:off x="6217920" y="1874520"/>
            <a:ext cx="2240280" cy="2514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B5563"/>
                </a:solidFill>
                <a:latin typeface="Calibri" pitchFamily="34" charset="0"/>
                <a:ea typeface="Calibri" pitchFamily="34" charset="-122"/>
                <a:cs typeface="Calibri" pitchFamily="34" charset="-120"/>
              </a:rPr>
              <a:t>20 facts per debate</a:t>
            </a:r>
            <a:endParaRPr lang="en-US" sz="1400" dirty="0"/>
          </a:p>
          <a:p>
            <a:pPr marL="342900" indent="-342900">
              <a:spcAft>
                <a:spcPts val="600"/>
              </a:spcAft>
              <a:buSzPct val="100000"/>
              <a:buChar char="•"/>
            </a:pPr>
            <a:r>
              <a:rPr lang="en-US" sz="1400" dirty="0">
                <a:solidFill>
                  <a:srgbClr val="4B5563"/>
                </a:solidFill>
                <a:latin typeface="Calibri" pitchFamily="34" charset="0"/>
                <a:ea typeface="Calibri" pitchFamily="34" charset="-122"/>
                <a:cs typeface="Calibri" pitchFamily="34" charset="-120"/>
              </a:rPr>
              <a:t>32 MCTS simulations per turn</a:t>
            </a:r>
            <a:endParaRPr lang="en-US" sz="1400" dirty="0"/>
          </a:p>
          <a:p>
            <a:pPr marL="342900" indent="-342900">
              <a:spcAft>
                <a:spcPts val="600"/>
              </a:spcAft>
              <a:buSzPct val="100000"/>
              <a:buChar char="•"/>
            </a:pPr>
            <a:r>
              <a:rPr lang="en-US" sz="1400" dirty="0">
                <a:solidFill>
                  <a:srgbClr val="4B5563"/>
                </a:solidFill>
                <a:latin typeface="Calibri" pitchFamily="34" charset="0"/>
                <a:ea typeface="Calibri" pitchFamily="34" charset="-122"/>
                <a:cs typeface="Calibri" pitchFamily="34" charset="-120"/>
              </a:rPr>
              <a:t>~4 LLM-proposed candidates per turn</a:t>
            </a:r>
            <a:endParaRPr lang="en-US" sz="1400" dirty="0"/>
          </a:p>
          <a:p>
            <a:pPr marL="342900" indent="-342900">
              <a:spcAft>
                <a:spcPts val="600"/>
              </a:spcAft>
              <a:buSzPct val="100000"/>
              <a:buChar char="•"/>
            </a:pPr>
            <a:r>
              <a:rPr lang="en-US" sz="1400" dirty="0">
                <a:solidFill>
                  <a:srgbClr val="4B5563"/>
                </a:solidFill>
                <a:latin typeface="Calibri" pitchFamily="34" charset="0"/>
                <a:ea typeface="Calibri" pitchFamily="34" charset="-122"/>
                <a:cs typeface="Calibri" pitchFamily="34" charset="-120"/>
              </a:rPr>
              <a:t>4 LLM providers with fallbacks</a:t>
            </a:r>
            <a:endParaRPr lang="en-US" sz="1400" dirty="0"/>
          </a:p>
          <a:p>
            <a:pPr marL="342900" indent="-342900">
              <a:spcAft>
                <a:spcPts val="600"/>
              </a:spcAft>
              <a:buSzPct val="100000"/>
              <a:buChar char="•"/>
            </a:pPr>
            <a:r>
              <a:rPr lang="en-US" sz="1400" dirty="0">
                <a:solidFill>
                  <a:srgbClr val="4B5563"/>
                </a:solidFill>
                <a:latin typeface="Calibri" pitchFamily="34" charset="0"/>
                <a:ea typeface="Calibri" pitchFamily="34" charset="-122"/>
                <a:cs typeface="Calibri" pitchFamily="34" charset="-120"/>
              </a:rPr>
              <a:t>223 tests in 12 files</a:t>
            </a:r>
            <a:endParaRPr lang="en-US" sz="1400" dirty="0"/>
          </a:p>
        </p:txBody>
      </p:sp>
      <p:sp>
        <p:nvSpPr>
          <p:cNvPr id="25" name="Slide Number Placeholder 0"/>
          <p:cNvSpPr>
            <a:spLocks noGrp="1"/>
          </p:cNvSpPr>
          <p:nvPr>
            <p:ph type="sldNum" sz="quarter" idx="4294967295"/>
          </p:nvPr>
        </p:nvSpPr>
        <p:spPr>
          <a:xfrm>
            <a:off x="813816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rgbClr val="1B1F2A"/>
                </a:solidFill>
                <a:latin typeface="Cambria" pitchFamily="34" charset="0"/>
                <a:ea typeface="Cambria" pitchFamily="34" charset="-122"/>
                <a:cs typeface="Cambria" pitchFamily="34" charset="-120"/>
              </a:rPr>
              <a:t>Result and Conclusion</a:t>
            </a:r>
            <a:endParaRPr lang="en-US" sz="3200" dirty="0"/>
          </a:p>
        </p:txBody>
      </p:sp>
      <p:pic>
        <p:nvPicPr>
          <p:cNvPr id="3" name="Image 0" descr="Verdict report of a ten-turn debate on gaming versus business laptops">    </p:cNvPr>
          <p:cNvPicPr>
            <a:picLocks noChangeAspect="1"/>
          </p:cNvPicPr>
          <p:nvPr/>
        </p:nvPicPr>
        <p:blipFill>
          <a:blip r:embed="rId1"/>
          <a:stretch>
            <a:fillRect/>
          </a:stretch>
        </p:blipFill>
        <p:spPr>
          <a:xfrm>
            <a:off x="548640" y="1280160"/>
            <a:ext cx="4754880" cy="2971372"/>
          </a:xfrm>
          <a:prstGeom prst="rect">
            <a:avLst/>
          </a:prstGeom>
        </p:spPr>
      </p:pic>
      <p:sp>
        <p:nvSpPr>
          <p:cNvPr id="4" name="Text 1"/>
          <p:cNvSpPr txBox="1"/>
          <p:nvPr/>
        </p:nvSpPr>
        <p:spPr>
          <a:xfrm>
            <a:off x="5577840" y="1280160"/>
            <a:ext cx="3017520" cy="274320"/>
          </a:xfrm>
          <a:prstGeom prst="rect">
            <a:avLst/>
          </a:prstGeom>
          <a:noFill/>
          <a:ln/>
        </p:spPr>
        <p:txBody>
          <a:bodyPr wrap="square" lIns="0" tIns="0" rIns="0" bIns="0" rtlCol="0" anchor="t"/>
          <a:lstStyle/>
          <a:p>
            <a:pPr indent="0" marL="0">
              <a:buNone/>
            </a:pPr>
            <a:r>
              <a:rPr lang="en-US" sz="1600" b="1" dirty="0">
                <a:solidFill>
                  <a:srgbClr val="B4452C"/>
                </a:solidFill>
                <a:latin typeface="Calibri" pitchFamily="34" charset="0"/>
                <a:ea typeface="Calibri" pitchFamily="34" charset="-122"/>
                <a:cs typeface="Calibri" pitchFamily="34" charset="-120"/>
              </a:rPr>
              <a:t>Result</a:t>
            </a:r>
            <a:endParaRPr lang="en-US" sz="1600" dirty="0"/>
          </a:p>
        </p:txBody>
      </p:sp>
      <p:sp>
        <p:nvSpPr>
          <p:cNvPr id="5" name="Text 2"/>
          <p:cNvSpPr txBox="1"/>
          <p:nvPr/>
        </p:nvSpPr>
        <p:spPr>
          <a:xfrm>
            <a:off x="5577840" y="1600200"/>
            <a:ext cx="3017520" cy="914400"/>
          </a:xfrm>
          <a:prstGeom prst="rect">
            <a:avLst/>
          </a:prstGeom>
          <a:noFill/>
          <a:ln/>
        </p:spPr>
        <p:txBody>
          <a:bodyPr wrap="square" lIns="0" tIns="0" rIns="0" bIns="0" rtlCol="0" anchor="t"/>
          <a:lstStyle/>
          <a:p>
            <a:pPr indent="0" marL="0">
              <a:buNone/>
            </a:pPr>
            <a:r>
              <a:rPr lang="en-US" sz="1400" dirty="0">
                <a:solidFill>
                  <a:srgbClr val="1B1F2A"/>
                </a:solidFill>
                <a:latin typeface="Calibri" pitchFamily="34" charset="0"/>
                <a:ea typeface="Calibri" pitchFamily="34" charset="-122"/>
                <a:cs typeface="Calibri" pitchFamily="34" charset="-120"/>
              </a:rPr>
              <a:t>10-turn debate on gaming vs. business laptops: Agent A wins 2–0 on proven refutations.</a:t>
            </a:r>
            <a:endParaRPr lang="en-US" sz="1400" dirty="0"/>
          </a:p>
        </p:txBody>
      </p:sp>
      <p:sp>
        <p:nvSpPr>
          <p:cNvPr id="6" name="Text 3"/>
          <p:cNvSpPr txBox="1"/>
          <p:nvPr/>
        </p:nvSpPr>
        <p:spPr>
          <a:xfrm>
            <a:off x="5577840" y="2697480"/>
            <a:ext cx="3017520" cy="274320"/>
          </a:xfrm>
          <a:prstGeom prst="rect">
            <a:avLst/>
          </a:prstGeom>
          <a:noFill/>
          <a:ln/>
        </p:spPr>
        <p:txBody>
          <a:bodyPr wrap="square" lIns="0" tIns="0" rIns="0" bIns="0" rtlCol="0" anchor="t"/>
          <a:lstStyle/>
          <a:p>
            <a:pPr indent="0" marL="0">
              <a:buNone/>
            </a:pPr>
            <a:r>
              <a:rPr lang="en-US" sz="1600" b="1" dirty="0">
                <a:solidFill>
                  <a:srgbClr val="B4452C"/>
                </a:solidFill>
                <a:latin typeface="Calibri" pitchFamily="34" charset="0"/>
                <a:ea typeface="Calibri" pitchFamily="34" charset="-122"/>
                <a:cs typeface="Calibri" pitchFamily="34" charset="-120"/>
              </a:rPr>
              <a:t>Conclusion</a:t>
            </a:r>
            <a:endParaRPr lang="en-US" sz="1600" dirty="0"/>
          </a:p>
        </p:txBody>
      </p:sp>
      <p:sp>
        <p:nvSpPr>
          <p:cNvPr id="7" name="Text 4"/>
          <p:cNvSpPr txBox="1"/>
          <p:nvPr/>
        </p:nvSpPr>
        <p:spPr>
          <a:xfrm>
            <a:off x="5577840" y="3017520"/>
            <a:ext cx="3017520" cy="1371600"/>
          </a:xfrm>
          <a:prstGeom prst="rect">
            <a:avLst/>
          </a:prstGeom>
          <a:noFill/>
          <a:ln/>
        </p:spPr>
        <p:txBody>
          <a:bodyPr wrap="square" lIns="0" tIns="0" rIns="0" bIns="0" rtlCol="0" anchor="t"/>
          <a:lstStyle/>
          <a:p>
            <a:pPr indent="0" marL="0">
              <a:buNone/>
            </a:pPr>
            <a:r>
              <a:rPr lang="en-US" sz="1400" dirty="0">
                <a:solidFill>
                  <a:srgbClr val="1B1F2A"/>
                </a:solidFill>
                <a:latin typeface="Calibri" pitchFamily="34" charset="0"/>
                <a:ea typeface="Calibri" pitchFamily="34" charset="-122"/>
                <a:cs typeface="Calibri" pitchFamily="34" charset="-120"/>
              </a:rPr>
              <a:t>MCTS with resolution rollouts chooses each argument and CNF resolution proves every refutation; the LLM only proposes and phrases.</a:t>
            </a:r>
            <a:endParaRPr lang="en-US" sz="1400" dirty="0"/>
          </a:p>
        </p:txBody>
      </p:sp>
      <p:sp>
        <p:nvSpPr>
          <p:cNvPr id="25" name="Slide Number Placeholder 0"/>
          <p:cNvSpPr>
            <a:spLocks noGrp="1"/>
          </p:cNvSpPr>
          <p:nvPr>
            <p:ph type="sldNum" sz="quarter" idx="4294967295"/>
          </p:nvPr>
        </p:nvSpPr>
        <p:spPr>
          <a:xfrm>
            <a:off x="813816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200" b="1" dirty="0">
                <a:solidFill>
                  <a:srgbClr val="1B1F2A"/>
                </a:solidFill>
                <a:latin typeface="Cambria" pitchFamily="34" charset="0"/>
                <a:ea typeface="Cambria" pitchFamily="34" charset="-122"/>
                <a:cs typeface="Cambria" pitchFamily="34" charset="-120"/>
              </a:rPr>
              <a:t>Future Enhancement</a:t>
            </a:r>
            <a:endParaRPr lang="en-US" sz="3200" dirty="0"/>
          </a:p>
        </p:txBody>
      </p:sp>
      <p:sp>
        <p:nvSpPr>
          <p:cNvPr id="3" name="Shape 1"/>
          <p:cNvSpPr/>
          <p:nvPr/>
        </p:nvSpPr>
        <p:spPr>
          <a:xfrm>
            <a:off x="548640" y="1280160"/>
            <a:ext cx="3931920" cy="960120"/>
          </a:xfrm>
          <a:prstGeom prst="rect">
            <a:avLst/>
          </a:prstGeom>
          <a:solidFill>
            <a:srgbClr val="F2F4F7"/>
          </a:solidFill>
          <a:ln w="12700">
            <a:solidFill>
              <a:srgbClr val="F2F4F7"/>
            </a:solidFill>
            <a:prstDash val="solid"/>
          </a:ln>
        </p:spPr>
      </p:sp>
      <p:sp>
        <p:nvSpPr>
          <p:cNvPr id="4" name="Text 2"/>
          <p:cNvSpPr txBox="1"/>
          <p:nvPr/>
        </p:nvSpPr>
        <p:spPr>
          <a:xfrm>
            <a:off x="777240" y="1371600"/>
            <a:ext cx="3474720" cy="274320"/>
          </a:xfrm>
          <a:prstGeom prst="rect">
            <a:avLst/>
          </a:prstGeom>
          <a:noFill/>
          <a:ln/>
        </p:spPr>
        <p:txBody>
          <a:bodyPr wrap="square" lIns="0" tIns="0" rIns="0" bIns="0" rtlCol="0" anchor="t"/>
          <a:lstStyle/>
          <a:p>
            <a:pPr indent="0" marL="0">
              <a:buNone/>
            </a:pPr>
            <a:r>
              <a:rPr lang="en-US" sz="1600" b="1" dirty="0">
                <a:solidFill>
                  <a:srgbClr val="1B1F2A"/>
                </a:solidFill>
                <a:latin typeface="Cambria" pitchFamily="34" charset="0"/>
                <a:ea typeface="Cambria" pitchFamily="34" charset="-122"/>
                <a:cs typeface="Cambria" pitchFamily="34" charset="-120"/>
              </a:rPr>
              <a:t>First-order logic</a:t>
            </a:r>
            <a:endParaRPr lang="en-US" sz="1600" dirty="0"/>
          </a:p>
        </p:txBody>
      </p:sp>
      <p:sp>
        <p:nvSpPr>
          <p:cNvPr id="5" name="Text 3"/>
          <p:cNvSpPr txBox="1"/>
          <p:nvPr/>
        </p:nvSpPr>
        <p:spPr>
          <a:xfrm>
            <a:off x="777240" y="1691640"/>
            <a:ext cx="3474720" cy="502920"/>
          </a:xfrm>
          <a:prstGeom prst="rect">
            <a:avLst/>
          </a:prstGeom>
          <a:noFill/>
          <a:ln/>
        </p:spPr>
        <p:txBody>
          <a:bodyPr wrap="square" lIns="0" tIns="0" rIns="0" bIns="0" rtlCol="0" anchor="t"/>
          <a:lstStyle/>
          <a:p>
            <a:pPr indent="0" marL="0">
              <a:buNone/>
            </a:pPr>
            <a:r>
              <a:rPr lang="en-US" sz="1400" dirty="0">
                <a:solidFill>
                  <a:srgbClr val="4B5563"/>
                </a:solidFill>
                <a:latin typeface="Calibri" pitchFamily="34" charset="0"/>
                <a:ea typeface="Calibri" pitchFamily="34" charset="-122"/>
                <a:cs typeface="Calibri" pitchFamily="34" charset="-120"/>
              </a:rPr>
              <a:t>Extend resolution to predicates and quantifiers.</a:t>
            </a:r>
            <a:endParaRPr lang="en-US" sz="1400" dirty="0"/>
          </a:p>
        </p:txBody>
      </p:sp>
      <p:sp>
        <p:nvSpPr>
          <p:cNvPr id="6" name="Shape 4"/>
          <p:cNvSpPr/>
          <p:nvPr/>
        </p:nvSpPr>
        <p:spPr>
          <a:xfrm>
            <a:off x="4663440" y="1280160"/>
            <a:ext cx="3931920" cy="960120"/>
          </a:xfrm>
          <a:prstGeom prst="rect">
            <a:avLst/>
          </a:prstGeom>
          <a:solidFill>
            <a:srgbClr val="F2F4F7"/>
          </a:solidFill>
          <a:ln w="12700">
            <a:solidFill>
              <a:srgbClr val="F2F4F7"/>
            </a:solidFill>
            <a:prstDash val="solid"/>
          </a:ln>
        </p:spPr>
      </p:sp>
      <p:sp>
        <p:nvSpPr>
          <p:cNvPr id="7" name="Text 5"/>
          <p:cNvSpPr txBox="1"/>
          <p:nvPr/>
        </p:nvSpPr>
        <p:spPr>
          <a:xfrm>
            <a:off x="4892040" y="1371600"/>
            <a:ext cx="3474720" cy="274320"/>
          </a:xfrm>
          <a:prstGeom prst="rect">
            <a:avLst/>
          </a:prstGeom>
          <a:noFill/>
          <a:ln/>
        </p:spPr>
        <p:txBody>
          <a:bodyPr wrap="square" lIns="0" tIns="0" rIns="0" bIns="0" rtlCol="0" anchor="t"/>
          <a:lstStyle/>
          <a:p>
            <a:pPr indent="0" marL="0">
              <a:buNone/>
            </a:pPr>
            <a:r>
              <a:rPr lang="en-US" sz="1600" b="1" dirty="0">
                <a:solidFill>
                  <a:srgbClr val="1B1F2A"/>
                </a:solidFill>
                <a:latin typeface="Cambria" pitchFamily="34" charset="0"/>
                <a:ea typeface="Cambria" pitchFamily="34" charset="-122"/>
                <a:cs typeface="Cambria" pitchFamily="34" charset="-120"/>
              </a:rPr>
              <a:t>Deeper search</a:t>
            </a:r>
            <a:endParaRPr lang="en-US" sz="1600" dirty="0"/>
          </a:p>
        </p:txBody>
      </p:sp>
      <p:sp>
        <p:nvSpPr>
          <p:cNvPr id="8" name="Text 6"/>
          <p:cNvSpPr txBox="1"/>
          <p:nvPr/>
        </p:nvSpPr>
        <p:spPr>
          <a:xfrm>
            <a:off x="4892040" y="1691640"/>
            <a:ext cx="3474720" cy="502920"/>
          </a:xfrm>
          <a:prstGeom prst="rect">
            <a:avLst/>
          </a:prstGeom>
          <a:noFill/>
          <a:ln/>
        </p:spPr>
        <p:txBody>
          <a:bodyPr wrap="square" lIns="0" tIns="0" rIns="0" bIns="0" rtlCol="0" anchor="t"/>
          <a:lstStyle/>
          <a:p>
            <a:pPr indent="0" marL="0">
              <a:buNone/>
            </a:pPr>
            <a:r>
              <a:rPr lang="en-US" sz="1400" dirty="0">
                <a:solidFill>
                  <a:srgbClr val="4B5563"/>
                </a:solidFill>
                <a:latin typeface="Calibri" pitchFamily="34" charset="0"/>
                <a:ea typeface="Calibri" pitchFamily="34" charset="-122"/>
                <a:cs typeface="Calibri" pitchFamily="34" charset="-120"/>
              </a:rPr>
              <a:t>Multi-step rollouts between both agents and a learned value function.</a:t>
            </a:r>
            <a:endParaRPr lang="en-US" sz="1400" dirty="0"/>
          </a:p>
        </p:txBody>
      </p:sp>
      <p:sp>
        <p:nvSpPr>
          <p:cNvPr id="9" name="Shape 7"/>
          <p:cNvSpPr/>
          <p:nvPr/>
        </p:nvSpPr>
        <p:spPr>
          <a:xfrm>
            <a:off x="548640" y="2377440"/>
            <a:ext cx="3931920" cy="960120"/>
          </a:xfrm>
          <a:prstGeom prst="rect">
            <a:avLst/>
          </a:prstGeom>
          <a:solidFill>
            <a:srgbClr val="F2F4F7"/>
          </a:solidFill>
          <a:ln w="12700">
            <a:solidFill>
              <a:srgbClr val="F2F4F7"/>
            </a:solidFill>
            <a:prstDash val="solid"/>
          </a:ln>
        </p:spPr>
      </p:sp>
      <p:sp>
        <p:nvSpPr>
          <p:cNvPr id="10" name="Text 8"/>
          <p:cNvSpPr txBox="1"/>
          <p:nvPr/>
        </p:nvSpPr>
        <p:spPr>
          <a:xfrm>
            <a:off x="777240" y="2468880"/>
            <a:ext cx="3474720" cy="274320"/>
          </a:xfrm>
          <a:prstGeom prst="rect">
            <a:avLst/>
          </a:prstGeom>
          <a:noFill/>
          <a:ln/>
        </p:spPr>
        <p:txBody>
          <a:bodyPr wrap="square" lIns="0" tIns="0" rIns="0" bIns="0" rtlCol="0" anchor="t"/>
          <a:lstStyle/>
          <a:p>
            <a:pPr indent="0" marL="0">
              <a:buNone/>
            </a:pPr>
            <a:r>
              <a:rPr lang="en-US" sz="1600" b="1" dirty="0">
                <a:solidFill>
                  <a:srgbClr val="1B1F2A"/>
                </a:solidFill>
                <a:latin typeface="Cambria" pitchFamily="34" charset="0"/>
                <a:ea typeface="Cambria" pitchFamily="34" charset="-122"/>
                <a:cs typeface="Cambria" pitchFamily="34" charset="-120"/>
              </a:rPr>
              <a:t>Live fact-checking</a:t>
            </a:r>
            <a:endParaRPr lang="en-US" sz="1600" dirty="0"/>
          </a:p>
        </p:txBody>
      </p:sp>
      <p:sp>
        <p:nvSpPr>
          <p:cNvPr id="11" name="Text 9"/>
          <p:cNvSpPr txBox="1"/>
          <p:nvPr/>
        </p:nvSpPr>
        <p:spPr>
          <a:xfrm>
            <a:off x="777240" y="2788920"/>
            <a:ext cx="3474720" cy="502920"/>
          </a:xfrm>
          <a:prstGeom prst="rect">
            <a:avLst/>
          </a:prstGeom>
          <a:noFill/>
          <a:ln/>
        </p:spPr>
        <p:txBody>
          <a:bodyPr wrap="square" lIns="0" tIns="0" rIns="0" bIns="0" rtlCol="0" anchor="t"/>
          <a:lstStyle/>
          <a:p>
            <a:pPr indent="0" marL="0">
              <a:buNone/>
            </a:pPr>
            <a:r>
              <a:rPr lang="en-US" sz="1400" dirty="0">
                <a:solidFill>
                  <a:srgbClr val="4B5563"/>
                </a:solidFill>
                <a:latin typeface="Calibri" pitchFamily="34" charset="0"/>
                <a:ea typeface="Calibri" pitchFamily="34" charset="-122"/>
                <a:cs typeface="Calibri" pitchFamily="34" charset="-120"/>
              </a:rPr>
              <a:t>Ground claims in retrieved web sources with citations.</a:t>
            </a:r>
            <a:endParaRPr lang="en-US" sz="1400" dirty="0"/>
          </a:p>
        </p:txBody>
      </p:sp>
      <p:sp>
        <p:nvSpPr>
          <p:cNvPr id="12" name="Shape 10"/>
          <p:cNvSpPr/>
          <p:nvPr/>
        </p:nvSpPr>
        <p:spPr>
          <a:xfrm>
            <a:off x="4663440" y="2377440"/>
            <a:ext cx="3931920" cy="960120"/>
          </a:xfrm>
          <a:prstGeom prst="rect">
            <a:avLst/>
          </a:prstGeom>
          <a:solidFill>
            <a:srgbClr val="F2F4F7"/>
          </a:solidFill>
          <a:ln w="12700">
            <a:solidFill>
              <a:srgbClr val="F2F4F7"/>
            </a:solidFill>
            <a:prstDash val="solid"/>
          </a:ln>
        </p:spPr>
      </p:sp>
      <p:sp>
        <p:nvSpPr>
          <p:cNvPr id="13" name="Text 11"/>
          <p:cNvSpPr txBox="1"/>
          <p:nvPr/>
        </p:nvSpPr>
        <p:spPr>
          <a:xfrm>
            <a:off x="4892040" y="2468880"/>
            <a:ext cx="3474720" cy="274320"/>
          </a:xfrm>
          <a:prstGeom prst="rect">
            <a:avLst/>
          </a:prstGeom>
          <a:noFill/>
          <a:ln/>
        </p:spPr>
        <p:txBody>
          <a:bodyPr wrap="square" lIns="0" tIns="0" rIns="0" bIns="0" rtlCol="0" anchor="t"/>
          <a:lstStyle/>
          <a:p>
            <a:pPr indent="0" marL="0">
              <a:buNone/>
            </a:pPr>
            <a:r>
              <a:rPr lang="en-US" sz="1600" b="1" dirty="0">
                <a:solidFill>
                  <a:srgbClr val="1B1F2A"/>
                </a:solidFill>
                <a:latin typeface="Cambria" pitchFamily="34" charset="0"/>
                <a:ea typeface="Cambria" pitchFamily="34" charset="-122"/>
                <a:cs typeface="Cambria" pitchFamily="34" charset="-120"/>
              </a:rPr>
              <a:t>Human vs. AI mode</a:t>
            </a:r>
            <a:endParaRPr lang="en-US" sz="1600" dirty="0"/>
          </a:p>
        </p:txBody>
      </p:sp>
      <p:sp>
        <p:nvSpPr>
          <p:cNvPr id="14" name="Text 12"/>
          <p:cNvSpPr txBox="1"/>
          <p:nvPr/>
        </p:nvSpPr>
        <p:spPr>
          <a:xfrm>
            <a:off x="4892040" y="2788920"/>
            <a:ext cx="3474720" cy="502920"/>
          </a:xfrm>
          <a:prstGeom prst="rect">
            <a:avLst/>
          </a:prstGeom>
          <a:noFill/>
          <a:ln/>
        </p:spPr>
        <p:txBody>
          <a:bodyPr wrap="square" lIns="0" tIns="0" rIns="0" bIns="0" rtlCol="0" anchor="t"/>
          <a:lstStyle/>
          <a:p>
            <a:pPr indent="0" marL="0">
              <a:buNone/>
            </a:pPr>
            <a:r>
              <a:rPr lang="en-US" sz="1400" dirty="0">
                <a:solidFill>
                  <a:srgbClr val="4B5563"/>
                </a:solidFill>
                <a:latin typeface="Calibri" pitchFamily="34" charset="0"/>
                <a:ea typeface="Calibri" pitchFamily="34" charset="-122"/>
                <a:cs typeface="Calibri" pitchFamily="34" charset="-120"/>
              </a:rPr>
              <a:t>A person debates an agent and gets the same analysis.</a:t>
            </a:r>
            <a:endParaRPr lang="en-US" sz="1400" dirty="0"/>
          </a:p>
        </p:txBody>
      </p:sp>
      <p:sp>
        <p:nvSpPr>
          <p:cNvPr id="15" name="Shape 13"/>
          <p:cNvSpPr/>
          <p:nvPr/>
        </p:nvSpPr>
        <p:spPr>
          <a:xfrm>
            <a:off x="548640" y="3474720"/>
            <a:ext cx="3931920" cy="960120"/>
          </a:xfrm>
          <a:prstGeom prst="rect">
            <a:avLst/>
          </a:prstGeom>
          <a:solidFill>
            <a:srgbClr val="F2F4F7"/>
          </a:solidFill>
          <a:ln w="12700">
            <a:solidFill>
              <a:srgbClr val="F2F4F7"/>
            </a:solidFill>
            <a:prstDash val="solid"/>
          </a:ln>
        </p:spPr>
      </p:sp>
      <p:sp>
        <p:nvSpPr>
          <p:cNvPr id="16" name="Text 14"/>
          <p:cNvSpPr txBox="1"/>
          <p:nvPr/>
        </p:nvSpPr>
        <p:spPr>
          <a:xfrm>
            <a:off x="777240" y="3566160"/>
            <a:ext cx="3474720" cy="274320"/>
          </a:xfrm>
          <a:prstGeom prst="rect">
            <a:avLst/>
          </a:prstGeom>
          <a:noFill/>
          <a:ln/>
        </p:spPr>
        <p:txBody>
          <a:bodyPr wrap="square" lIns="0" tIns="0" rIns="0" bIns="0" rtlCol="0" anchor="t"/>
          <a:lstStyle/>
          <a:p>
            <a:pPr indent="0" marL="0">
              <a:buNone/>
            </a:pPr>
            <a:r>
              <a:rPr lang="en-US" sz="1600" b="1" dirty="0">
                <a:solidFill>
                  <a:srgbClr val="1B1F2A"/>
                </a:solidFill>
                <a:latin typeface="Cambria" pitchFamily="34" charset="0"/>
                <a:ea typeface="Cambria" pitchFamily="34" charset="-122"/>
                <a:cs typeface="Cambria" pitchFamily="34" charset="-120"/>
              </a:rPr>
              <a:t>Multi-agent panels</a:t>
            </a:r>
            <a:endParaRPr lang="en-US" sz="1600" dirty="0"/>
          </a:p>
        </p:txBody>
      </p:sp>
      <p:sp>
        <p:nvSpPr>
          <p:cNvPr id="17" name="Text 15"/>
          <p:cNvSpPr txBox="1"/>
          <p:nvPr/>
        </p:nvSpPr>
        <p:spPr>
          <a:xfrm>
            <a:off x="777240" y="3886200"/>
            <a:ext cx="3474720" cy="502920"/>
          </a:xfrm>
          <a:prstGeom prst="rect">
            <a:avLst/>
          </a:prstGeom>
          <a:noFill/>
          <a:ln/>
        </p:spPr>
        <p:txBody>
          <a:bodyPr wrap="square" lIns="0" tIns="0" rIns="0" bIns="0" rtlCol="0" anchor="t"/>
          <a:lstStyle/>
          <a:p>
            <a:pPr indent="0" marL="0">
              <a:buNone/>
            </a:pPr>
            <a:r>
              <a:rPr lang="en-US" sz="1400" dirty="0">
                <a:solidFill>
                  <a:srgbClr val="4B5563"/>
                </a:solidFill>
                <a:latin typeface="Calibri" pitchFamily="34" charset="0"/>
                <a:ea typeface="Calibri" pitchFamily="34" charset="-122"/>
                <a:cs typeface="Calibri" pitchFamily="34" charset="-120"/>
              </a:rPr>
              <a:t>Three or more debaters with a moderator agent.</a:t>
            </a:r>
            <a:endParaRPr lang="en-US" sz="1400" dirty="0"/>
          </a:p>
        </p:txBody>
      </p:sp>
      <p:sp>
        <p:nvSpPr>
          <p:cNvPr id="18" name="Shape 16"/>
          <p:cNvSpPr/>
          <p:nvPr/>
        </p:nvSpPr>
        <p:spPr>
          <a:xfrm>
            <a:off x="4663440" y="3474720"/>
            <a:ext cx="3931920" cy="960120"/>
          </a:xfrm>
          <a:prstGeom prst="rect">
            <a:avLst/>
          </a:prstGeom>
          <a:solidFill>
            <a:srgbClr val="F2F4F7"/>
          </a:solidFill>
          <a:ln w="12700">
            <a:solidFill>
              <a:srgbClr val="F2F4F7"/>
            </a:solidFill>
            <a:prstDash val="solid"/>
          </a:ln>
        </p:spPr>
      </p:sp>
      <p:sp>
        <p:nvSpPr>
          <p:cNvPr id="19" name="Text 17"/>
          <p:cNvSpPr txBox="1"/>
          <p:nvPr/>
        </p:nvSpPr>
        <p:spPr>
          <a:xfrm>
            <a:off x="4892040" y="3566160"/>
            <a:ext cx="3474720" cy="274320"/>
          </a:xfrm>
          <a:prstGeom prst="rect">
            <a:avLst/>
          </a:prstGeom>
          <a:noFill/>
          <a:ln/>
        </p:spPr>
        <p:txBody>
          <a:bodyPr wrap="square" lIns="0" tIns="0" rIns="0" bIns="0" rtlCol="0" anchor="t"/>
          <a:lstStyle/>
          <a:p>
            <a:pPr indent="0" marL="0">
              <a:buNone/>
            </a:pPr>
            <a:r>
              <a:rPr lang="en-US" sz="1600" b="1" dirty="0">
                <a:solidFill>
                  <a:srgbClr val="1B1F2A"/>
                </a:solidFill>
                <a:latin typeface="Cambria" pitchFamily="34" charset="0"/>
                <a:ea typeface="Cambria" pitchFamily="34" charset="-122"/>
                <a:cs typeface="Cambria" pitchFamily="34" charset="-120"/>
              </a:rPr>
              <a:t>Voice and multilingual</a:t>
            </a:r>
            <a:endParaRPr lang="en-US" sz="1600" dirty="0"/>
          </a:p>
        </p:txBody>
      </p:sp>
      <p:sp>
        <p:nvSpPr>
          <p:cNvPr id="20" name="Text 18"/>
          <p:cNvSpPr txBox="1"/>
          <p:nvPr/>
        </p:nvSpPr>
        <p:spPr>
          <a:xfrm>
            <a:off x="4892040" y="3886200"/>
            <a:ext cx="3474720" cy="502920"/>
          </a:xfrm>
          <a:prstGeom prst="rect">
            <a:avLst/>
          </a:prstGeom>
          <a:noFill/>
          <a:ln/>
        </p:spPr>
        <p:txBody>
          <a:bodyPr wrap="square" lIns="0" tIns="0" rIns="0" bIns="0" rtlCol="0" anchor="t"/>
          <a:lstStyle/>
          <a:p>
            <a:pPr indent="0" marL="0">
              <a:buNone/>
            </a:pPr>
            <a:r>
              <a:rPr lang="en-US" sz="1400" dirty="0">
                <a:solidFill>
                  <a:srgbClr val="4B5563"/>
                </a:solidFill>
                <a:latin typeface="Calibri" pitchFamily="34" charset="0"/>
                <a:ea typeface="Calibri" pitchFamily="34" charset="-122"/>
                <a:cs typeface="Calibri" pitchFamily="34" charset="-120"/>
              </a:rPr>
              <a:t>Spoken debates and regional-language support.</a:t>
            </a:r>
            <a:endParaRPr lang="en-US" sz="1400" dirty="0"/>
          </a:p>
        </p:txBody>
      </p:sp>
      <p:sp>
        <p:nvSpPr>
          <p:cNvPr id="25" name="Slide Number Placeholder 0"/>
          <p:cNvSpPr>
            <a:spLocks noGrp="1"/>
          </p:cNvSpPr>
          <p:nvPr>
            <p:ph type="sldNum" sz="quarter" idx="4294967295"/>
          </p:nvPr>
        </p:nvSpPr>
        <p:spPr>
          <a:xfrm>
            <a:off x="813816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Debate Arena">
  <a:themeElements>
    <a:clrScheme name="Debate Arena">
      <a:dk1>
        <a:srgbClr val="1B1F2A"/>
      </a:dk1>
      <a:lt1>
        <a:srgbClr val="FFFFFF"/>
      </a:lt1>
      <a:dk2>
        <a:srgbClr val="4B5563"/>
      </a:dk2>
      <a:lt2>
        <a:srgbClr val="F2F4F7"/>
      </a:lt2>
      <a:accent1>
        <a:srgbClr val="B4452C"/>
      </a:accent1>
      <a:accent2>
        <a:srgbClr val="2F4858"/>
      </a:accent2>
      <a:accent3>
        <a:srgbClr val="6B7280"/>
      </a:accent3>
      <a:accent4>
        <a:srgbClr val="9CA3AF"/>
      </a:accent4>
      <a:accent5>
        <a:srgbClr val="D1D5DB"/>
      </a:accent5>
      <a:accent6>
        <a:srgbClr val="7C2D12"/>
      </a:accent6>
      <a:hlink>
        <a:srgbClr val="B4452C"/>
      </a:hlink>
      <a:folHlink>
        <a:srgbClr val="4B5563"/>
      </a:folHlink>
    </a:clrScheme>
    <a:fontScheme name="Debate Aren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Debate Arena with MCTS &amp; Neuro-Symbolic Logic Verification</dc:title>
  <dc:subject>PptxGenJS Presentation</dc:subject>
  <dc:creator>PptxGenJS</dc:creator>
  <cp:lastModifiedBy>PptxGenJS</cp:lastModifiedBy>
  <cp:revision>1</cp:revision>
  <dcterms:created xsi:type="dcterms:W3CDTF">2026-10-12T06:12:49Z</dcterms:created>
  <dcterms:modified xsi:type="dcterms:W3CDTF">2026-10-12T06:12:49Z</dcterms:modified>
</cp:coreProperties>
</file>
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200" b="1" dirty="0">
                <a:solidFill>
                  <a:srgbClr val="1B1F2A"/>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CONTENT">
    <p:bg>
      <p:bgPr>
        <a:solidFill>
          <a:srgbClr val="0B11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2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7680960" cy="365760"/>
          </a:xfrm>
          <a:prstGeom prst="rect">
            <a:avLst/>
          </a:prstGeom>
          <a:noFill/>
          <a:ln/>
        </p:spPr>
        <p:txBody>
          <a:bodyPr wrap="square" lIns="0" tIns="0" rIns="0" bIns="0" rtlCol="0" anchor="t"/>
          <a:lstStyle/>
          <a:p>
            <a:pPr indent="0" marL="0">
              <a:buNone/>
            </a:pPr>
            <a:r>
              <a:rPr lang="en-US" sz="1400" dirty="0">
                <a:solidFill>
                  <a:srgbClr val="D1D5DB"/>
                </a:solidFill>
                <a:latin typeface="Calibri" pitchFamily="34" charset="0"/>
                <a:ea typeface="Calibri" pitchFamily="34" charset="-122"/>
                <a:cs typeface="Calibri" pitchFamily="34" charset="-120"/>
              </a:rPr>
              <a:t>Foundations of AI  ·  Course Project</a:t>
            </a:r>
            <a:endParaRPr lang="en-US" sz="1400" dirty="0"/>
          </a:p>
        </p:txBody>
      </p:sp>
      <p:sp>
        <p:nvSpPr>
          <p:cNvPr id="3" name="Text 1"/>
          <p:cNvSpPr txBox="1"/>
          <p:nvPr/>
        </p:nvSpPr>
        <p:spPr>
          <a:xfrm>
            <a:off x="731520" y="1097280"/>
            <a:ext cx="731520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Agentic Debate Arena with MCTS &amp; Neuro-Symbolic Logic Verification</a:t>
            </a:r>
            <a:endParaRPr lang="en-US" sz="3800" dirty="0"/>
          </a:p>
        </p:txBody>
      </p:sp>
      <p:sp>
        <p:nvSpPr>
          <p:cNvPr id="4" name="Text 2"/>
          <p:cNvSpPr txBox="1"/>
          <p:nvPr/>
        </p:nvSpPr>
        <p:spPr>
          <a:xfrm>
            <a:off x="731520" y="2926080"/>
            <a:ext cx="7315200" cy="457200"/>
          </a:xfrm>
          <a:prstGeom prst="rect">
            <a:avLst/>
          </a:prstGeom>
          <a:noFill/>
          <a:ln/>
        </p:spPr>
        <p:txBody>
          <a:bodyPr wrap="square" lIns="0" tIns="0" rIns="0" bIns="0" rtlCol="0" anchor="t"/>
          <a:lstStyle/>
          <a:p>
            <a:pPr indent="0" marL="0">
              <a:buNone/>
            </a:pPr>
            <a:r>
              <a:rPr lang="en-US" sz="1800" i="1" dirty="0">
                <a:solidFill>
                  <a:srgbClr val="E7A58F"/>
                </a:solidFill>
                <a:latin typeface="Cambria" pitchFamily="34" charset="0"/>
                <a:ea typeface="Cambria" pitchFamily="34" charset="-122"/>
                <a:cs typeface="Cambria" pitchFamily="34" charset="-120"/>
              </a:rPr>
              <a:t>Two AI agents debate. Search chooses the move. Logic checks the claim.</a:t>
            </a:r>
            <a:endParaRPr lang="en-US" sz="1800" dirty="0"/>
          </a:p>
        </p:txBody>
      </p:sp>
      <p:sp>
        <p:nvSpPr>
          <p:cNvPr id="5" name="Text 3"/>
          <p:cNvSpPr txBox="1"/>
          <p:nvPr/>
        </p:nvSpPr>
        <p:spPr>
          <a:xfrm>
            <a:off x="731520" y="3703320"/>
            <a:ext cx="3657600" cy="228600"/>
          </a:xfrm>
          <a:prstGeom prst="rect">
            <a:avLst/>
          </a:prstGeom>
          <a:noFill/>
          <a:ln/>
        </p:spPr>
        <p:txBody>
          <a:bodyPr wrap="square" lIns="0" tIns="0" rIns="0" bIns="0" rtlCol="0" anchor="t"/>
          <a:lstStyle/>
          <a:p>
            <a:pPr indent="0" marL="0">
              <a:buNone/>
            </a:pPr>
            <a:r>
              <a:rPr lang="en-US" sz="1200" b="1" spc="200" kern="0" dirty="0">
                <a:solidFill>
                  <a:srgbClr val="9CA3AF"/>
                </a:solidFill>
                <a:latin typeface="Calibri" pitchFamily="34" charset="0"/>
                <a:ea typeface="Calibri" pitchFamily="34" charset="-122"/>
                <a:cs typeface="Calibri" pitchFamily="34" charset="-120"/>
              </a:rPr>
              <a:t>TEAM MEMBERS</a:t>
            </a:r>
            <a:endParaRPr lang="en-US" sz="1200" dirty="0"/>
          </a:p>
        </p:txBody>
      </p:sp>
      <p:sp>
        <p:nvSpPr>
          <p:cNvPr id="6" name="Text 4"/>
          <p:cNvSpPr txBox="1"/>
          <p:nvPr/>
        </p:nvSpPr>
        <p:spPr>
          <a:xfrm>
            <a:off x="731520" y="4023360"/>
            <a:ext cx="3017520" cy="36576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S Adhithya</a:t>
            </a:r>
            <a:endParaRPr lang="en-US" sz="2000" dirty="0"/>
          </a:p>
        </p:txBody>
      </p:sp>
      <p:sp>
        <p:nvSpPr>
          <p:cNvPr id="7" name="Text 5"/>
          <p:cNvSpPr txBox="1"/>
          <p:nvPr/>
        </p:nvSpPr>
        <p:spPr>
          <a:xfrm>
            <a:off x="731520" y="4407408"/>
            <a:ext cx="3017520" cy="274320"/>
          </a:xfrm>
          <a:prstGeom prst="rect">
            <a:avLst/>
          </a:prstGeom>
          <a:noFill/>
          <a:ln/>
        </p:spPr>
        <p:txBody>
          <a:bodyPr wrap="square" lIns="0" tIns="0" rIns="0" bIns="0" rtlCol="0" anchor="t"/>
          <a:lstStyle/>
          <a:p>
            <a:pPr indent="0" marL="0">
              <a:buNone/>
            </a:pPr>
            <a:r>
              <a:rPr lang="en-US" sz="1400" dirty="0">
                <a:solidFill>
                  <a:srgbClr val="D1D5DB"/>
                </a:solidFill>
                <a:latin typeface="Calibri" pitchFamily="34" charset="0"/>
                <a:ea typeface="Calibri" pitchFamily="34" charset="-122"/>
                <a:cs typeface="Calibri" pitchFamily="34" charset="-120"/>
              </a:rPr>
              <a:t>Roll No: 2116240701017</a:t>
            </a:r>
            <a:endParaRPr lang="en-US" sz="1400" dirty="0"/>
          </a:p>
        </p:txBody>
      </p:sp>
      <p:sp>
        <p:nvSpPr>
          <p:cNvPr id="8" name="Text 6"/>
          <p:cNvSpPr txBox="1"/>
          <p:nvPr/>
        </p:nvSpPr>
        <p:spPr>
          <a:xfrm>
            <a:off x="4023360" y="4023360"/>
            <a:ext cx="3017520" cy="36576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Adithya S</a:t>
            </a:r>
            <a:endParaRPr lang="en-US" sz="2000" dirty="0"/>
          </a:p>
        </p:txBody>
      </p:sp>
      <p:sp>
        <p:nvSpPr>
          <p:cNvPr id="9" name="Text 7"/>
          <p:cNvSpPr txBox="1"/>
          <p:nvPr/>
        </p:nvSpPr>
        <p:spPr>
          <a:xfrm>
            <a:off x="4023360" y="4407408"/>
            <a:ext cx="3017520" cy="274320"/>
          </a:xfrm>
          <a:prstGeom prst="rect">
            <a:avLst/>
          </a:prstGeom>
          <a:noFill/>
          <a:ln/>
        </p:spPr>
        <p:txBody>
          <a:bodyPr wrap="square" lIns="0" tIns="0" rIns="0" bIns="0" rtlCol="0" anchor="t"/>
          <a:lstStyle/>
          <a:p>
            <a:pPr indent="0" marL="0">
              <a:buNone/>
            </a:pPr>
            <a:r>
              <a:rPr lang="en-US" sz="1400" dirty="0">
                <a:solidFill>
                  <a:srgbClr val="D1D5DB"/>
                </a:solidFill>
                <a:latin typeface="Calibri" pitchFamily="34" charset="0"/>
                <a:ea typeface="Calibri" pitchFamily="34" charset="-122"/>
                <a:cs typeface="Calibri" pitchFamily="34" charset="-120"/>
              </a:rPr>
              <a:t>Roll No: 2116240701019</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Abstract</a:t>
            </a:r>
            <a:endParaRPr lang="en-US" sz="3200" dirty="0"/>
          </a:p>
        </p:txBody>
      </p:sp>
      <p:sp>
        <p:nvSpPr>
          <p:cNvPr id="3" name="Text 1"/>
          <p:cNvSpPr txBox="1"/>
          <p:nvPr/>
        </p:nvSpPr>
        <p:spPr>
          <a:xfrm>
            <a:off x="548640" y="1280160"/>
            <a:ext cx="8046720" cy="3200400"/>
          </a:xfrm>
          <a:prstGeom prst="rect">
            <a:avLst/>
          </a:prstGeom>
          <a:noFill/>
          <a:ln/>
        </p:spPr>
        <p:txBody>
          <a:bodyPr wrap="square" lIns="0" tIns="0" rIns="0" bIns="0" rtlCol="0" anchor="t"/>
          <a:lstStyle/>
          <a:p>
            <a:pPr indent="0" marL="0">
              <a:lnSpc>
                <a:spcPct val="105000"/>
              </a:lnSpc>
              <a:buNone/>
            </a:pPr>
            <a:r>
              <a:rPr lang="en-US" sz="1500" dirty="0">
                <a:solidFill>
                  <a:srgbClr val="1B1F2A"/>
                </a:solidFill>
                <a:latin typeface="Calibri" pitchFamily="34" charset="0"/>
                <a:ea typeface="Calibri" pitchFamily="34" charset="-122"/>
                <a:cs typeface="Calibri" pitchFamily="34" charset="-120"/>
              </a:rPr>
              <a:t>Online debate and AI-assisted argumentation increasingly shape how people form opinions. Large language models now write fluent arguments on any topic, but fluency is not the same as logical soundness. Traditional debate systems let a single LLM write, judge and fact-check its own arguments. They choose rebuttals by prompting rather than by search. They cannot prove when an argument contradicts itself, so invented facts and repeated points pass unchecked. The proposed Agentic Debate Arena pairs two agents that select each rebuttal with Monte Carlo Tree Search (UCB1) and verify logical consistency with CNF propositional resolution. The LLM only phrases the chosen claim over a fixed 20-fact base, so every argument is grounded and every contradiction is formally proved. The system is evaluated on contradictions forced, contradictions received, unique-claim coverage and the resulting heuristic score. A 6-turn demo debate ends in a Draw with 0 contradictions, and the implementation passes 231+ automated tests.</a:t>
            </a:r>
            <a:endParaRPr lang="en-US" sz="15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Problem Statement</a:t>
            </a:r>
            <a:endParaRPr lang="en-US" sz="3200" dirty="0"/>
          </a:p>
        </p:txBody>
      </p:sp>
      <p:sp>
        <p:nvSpPr>
          <p:cNvPr id="3" name="Text 1"/>
          <p:cNvSpPr txBox="1"/>
          <p:nvPr/>
        </p:nvSpPr>
        <p:spPr>
          <a:xfrm>
            <a:off x="548640" y="1280160"/>
            <a:ext cx="4937760" cy="11887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Design a two-agent debate system in which MCTS and propositional resolution, not the LLM, choose each move and verify consistency, so that every claim is grounded in a fact base and every contradiction is proved.</a:t>
            </a:r>
            <a:endParaRPr lang="en-US" sz="1600" dirty="0"/>
          </a:p>
        </p:txBody>
      </p:sp>
      <p:sp>
        <p:nvSpPr>
          <p:cNvPr id="4" name="Text 2"/>
          <p:cNvSpPr txBox="1"/>
          <p:nvPr/>
        </p:nvSpPr>
        <p:spPr>
          <a:xfrm>
            <a:off x="548640" y="2606040"/>
            <a:ext cx="493776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LLM debaters can contradict themselves, repeat points and invent facts.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Move choice and consistency checks must be separated from language generation.</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Search should pick rebuttals; logic should prove contradictions.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Every claim should trace back to a fixed fact base so results can be audited.</a:t>
            </a:r>
            <a:endParaRPr lang="en-US" sz="1400" dirty="0"/>
          </a:p>
        </p:txBody>
      </p:sp>
      <p:sp>
        <p:nvSpPr>
          <p:cNvPr id="5" name="Shape 3"/>
          <p:cNvSpPr/>
          <p:nvPr/>
        </p:nvSpPr>
        <p:spPr>
          <a:xfrm>
            <a:off x="5760720" y="1280160"/>
            <a:ext cx="2834640" cy="3200400"/>
          </a:xfrm>
          <a:prstGeom prst="rect">
            <a:avLst/>
          </a:prstGeom>
          <a:solidFill>
            <a:srgbClr val="F2F4F7"/>
          </a:solidFill>
          <a:ln w="12700">
            <a:solidFill>
              <a:srgbClr val="F2F4F7"/>
            </a:solidFill>
            <a:prstDash val="solid"/>
          </a:ln>
        </p:spPr>
      </p:sp>
      <p:sp>
        <p:nvSpPr>
          <p:cNvPr id="6" name="Text 4"/>
          <p:cNvSpPr txBox="1"/>
          <p:nvPr/>
        </p:nvSpPr>
        <p:spPr>
          <a:xfrm>
            <a:off x="5943600" y="1417320"/>
            <a:ext cx="2468880" cy="320040"/>
          </a:xfrm>
          <a:prstGeom prst="rect">
            <a:avLst/>
          </a:prstGeom>
          <a:noFill/>
          <a:ln/>
        </p:spPr>
        <p:txBody>
          <a:bodyPr wrap="square" lIns="0" tIns="0" rIns="0" bIns="0" rtlCol="0" anchor="t"/>
          <a:lstStyle/>
          <a:p>
            <a:pPr indent="0" marL="0">
              <a:buNone/>
            </a:pPr>
            <a:r>
              <a:rPr lang="en-US" sz="1800" b="1" dirty="0">
                <a:solidFill>
                  <a:srgbClr val="1B1F2A"/>
                </a:solidFill>
                <a:latin typeface="Cambria" pitchFamily="34" charset="0"/>
                <a:ea typeface="Cambria" pitchFamily="34" charset="-122"/>
                <a:cs typeface="Cambria" pitchFamily="34" charset="-120"/>
              </a:rPr>
              <a:t>Syllabus link</a:t>
            </a:r>
            <a:endParaRPr lang="en-US" sz="1800" dirty="0"/>
          </a:p>
        </p:txBody>
      </p:sp>
      <p:sp>
        <p:nvSpPr>
          <p:cNvPr id="7" name="Text 5"/>
          <p:cNvSpPr txBox="1"/>
          <p:nvPr/>
        </p:nvSpPr>
        <p:spPr>
          <a:xfrm>
            <a:off x="5943600" y="2011680"/>
            <a:ext cx="822960" cy="274320"/>
          </a:xfrm>
          <a:prstGeom prst="rect">
            <a:avLst/>
          </a:prstGeom>
          <a:noFill/>
          <a:ln/>
        </p:spPr>
        <p:txBody>
          <a:bodyPr wrap="square" lIns="0" tIns="0" rIns="0" bIns="0" rtlCol="0" anchor="t"/>
          <a:lstStyle/>
          <a:p>
            <a:pPr indent="0" marL="0">
              <a:buNone/>
            </a:pPr>
            <a:r>
              <a:rPr lang="en-US" sz="1400" b="1" dirty="0">
                <a:solidFill>
                  <a:srgbClr val="B4452C"/>
                </a:solidFill>
                <a:latin typeface="Calibri" pitchFamily="34" charset="0"/>
                <a:ea typeface="Calibri" pitchFamily="34" charset="-122"/>
                <a:cs typeface="Calibri" pitchFamily="34" charset="-120"/>
              </a:rPr>
              <a:t>Unit I</a:t>
            </a:r>
            <a:endParaRPr lang="en-US" sz="1400" dirty="0"/>
          </a:p>
        </p:txBody>
      </p:sp>
      <p:sp>
        <p:nvSpPr>
          <p:cNvPr id="8" name="Text 6"/>
          <p:cNvSpPr txBox="1"/>
          <p:nvPr/>
        </p:nvSpPr>
        <p:spPr>
          <a:xfrm>
            <a:off x="6766560" y="2011680"/>
            <a:ext cx="1737360" cy="27432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KB agent, TELL/ASK</a:t>
            </a:r>
            <a:endParaRPr lang="en-US" sz="1400" dirty="0"/>
          </a:p>
        </p:txBody>
      </p:sp>
      <p:sp>
        <p:nvSpPr>
          <p:cNvPr id="9" name="Text 7"/>
          <p:cNvSpPr txBox="1"/>
          <p:nvPr/>
        </p:nvSpPr>
        <p:spPr>
          <a:xfrm>
            <a:off x="5943600" y="2606040"/>
            <a:ext cx="822960" cy="274320"/>
          </a:xfrm>
          <a:prstGeom prst="rect">
            <a:avLst/>
          </a:prstGeom>
          <a:noFill/>
          <a:ln/>
        </p:spPr>
        <p:txBody>
          <a:bodyPr wrap="square" lIns="0" tIns="0" rIns="0" bIns="0" rtlCol="0" anchor="t"/>
          <a:lstStyle/>
          <a:p>
            <a:pPr indent="0" marL="0">
              <a:buNone/>
            </a:pPr>
            <a:r>
              <a:rPr lang="en-US" sz="1400" b="1" dirty="0">
                <a:solidFill>
                  <a:srgbClr val="B4452C"/>
                </a:solidFill>
                <a:latin typeface="Calibri" pitchFamily="34" charset="0"/>
                <a:ea typeface="Calibri" pitchFamily="34" charset="-122"/>
                <a:cs typeface="Calibri" pitchFamily="34" charset="-120"/>
              </a:rPr>
              <a:t>Unit II</a:t>
            </a:r>
            <a:endParaRPr lang="en-US" sz="1400" dirty="0"/>
          </a:p>
        </p:txBody>
      </p:sp>
      <p:sp>
        <p:nvSpPr>
          <p:cNvPr id="10" name="Text 8"/>
          <p:cNvSpPr txBox="1"/>
          <p:nvPr/>
        </p:nvSpPr>
        <p:spPr>
          <a:xfrm>
            <a:off x="6766560" y="2606040"/>
            <a:ext cx="1737360" cy="27432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Semantic retrieval</a:t>
            </a:r>
            <a:endParaRPr lang="en-US" sz="1400" dirty="0"/>
          </a:p>
        </p:txBody>
      </p:sp>
      <p:sp>
        <p:nvSpPr>
          <p:cNvPr id="11" name="Text 9"/>
          <p:cNvSpPr txBox="1"/>
          <p:nvPr/>
        </p:nvSpPr>
        <p:spPr>
          <a:xfrm>
            <a:off x="5943600" y="3200400"/>
            <a:ext cx="822960" cy="274320"/>
          </a:xfrm>
          <a:prstGeom prst="rect">
            <a:avLst/>
          </a:prstGeom>
          <a:noFill/>
          <a:ln/>
        </p:spPr>
        <p:txBody>
          <a:bodyPr wrap="square" lIns="0" tIns="0" rIns="0" bIns="0" rtlCol="0" anchor="t"/>
          <a:lstStyle/>
          <a:p>
            <a:pPr indent="0" marL="0">
              <a:buNone/>
            </a:pPr>
            <a:r>
              <a:rPr lang="en-US" sz="1400" b="1" dirty="0">
                <a:solidFill>
                  <a:srgbClr val="B4452C"/>
                </a:solidFill>
                <a:latin typeface="Calibri" pitchFamily="34" charset="0"/>
                <a:ea typeface="Calibri" pitchFamily="34" charset="-122"/>
                <a:cs typeface="Calibri" pitchFamily="34" charset="-120"/>
              </a:rPr>
              <a:t>Unit III</a:t>
            </a:r>
            <a:endParaRPr lang="en-US" sz="1400" dirty="0"/>
          </a:p>
        </p:txBody>
      </p:sp>
      <p:sp>
        <p:nvSpPr>
          <p:cNvPr id="12" name="Text 10"/>
          <p:cNvSpPr txBox="1"/>
          <p:nvPr/>
        </p:nvSpPr>
        <p:spPr>
          <a:xfrm>
            <a:off x="6766560" y="3200400"/>
            <a:ext cx="1737360" cy="27432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MCTS</a:t>
            </a:r>
            <a:endParaRPr lang="en-US" sz="1400" dirty="0"/>
          </a:p>
        </p:txBody>
      </p:sp>
      <p:sp>
        <p:nvSpPr>
          <p:cNvPr id="13" name="Text 11"/>
          <p:cNvSpPr txBox="1"/>
          <p:nvPr/>
        </p:nvSpPr>
        <p:spPr>
          <a:xfrm>
            <a:off x="5943600" y="3794760"/>
            <a:ext cx="822960" cy="274320"/>
          </a:xfrm>
          <a:prstGeom prst="rect">
            <a:avLst/>
          </a:prstGeom>
          <a:noFill/>
          <a:ln/>
        </p:spPr>
        <p:txBody>
          <a:bodyPr wrap="square" lIns="0" tIns="0" rIns="0" bIns="0" rtlCol="0" anchor="t"/>
          <a:lstStyle/>
          <a:p>
            <a:pPr indent="0" marL="0">
              <a:buNone/>
            </a:pPr>
            <a:r>
              <a:rPr lang="en-US" sz="1400" b="1" dirty="0">
                <a:solidFill>
                  <a:srgbClr val="B4452C"/>
                </a:solidFill>
                <a:latin typeface="Calibri" pitchFamily="34" charset="0"/>
                <a:ea typeface="Calibri" pitchFamily="34" charset="-122"/>
                <a:cs typeface="Calibri" pitchFamily="34" charset="-120"/>
              </a:rPr>
              <a:t>Unit IV</a:t>
            </a:r>
            <a:endParaRPr lang="en-US" sz="1400" dirty="0"/>
          </a:p>
        </p:txBody>
      </p:sp>
      <p:sp>
        <p:nvSpPr>
          <p:cNvPr id="14" name="Text 12"/>
          <p:cNvSpPr txBox="1"/>
          <p:nvPr/>
        </p:nvSpPr>
        <p:spPr>
          <a:xfrm>
            <a:off x="6766560" y="3794760"/>
            <a:ext cx="1737360" cy="27432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Resolution</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Literature Survey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046720" cy="914400"/>
        </p:xfrm>
        <a:graphic>
          <a:graphicData uri="http://schemas.openxmlformats.org/drawingml/2006/table">
            <a:tbl>
              <a:tblPr/>
              <a:tblGrid>
                <a:gridCol w="2651760"/>
                <a:gridCol w="3108960"/>
                <a:gridCol w="2286000"/>
              </a:tblGrid>
              <a:tr h="36576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Work</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B1F2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Approach</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B1F2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Limitation</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B1F2A"/>
                    </a:solidFill>
                  </a:tcPr>
                </a:tc>
              </a:tr>
              <a:tr h="548640">
                <a:tc>
                  <a:txBody>
                    <a:bodyPr/>
                    <a:lstStyle/>
                    <a:p>
                      <a:pPr indent="0" marL="0">
                        <a:buNone/>
                      </a:pPr>
                      <a:r>
                        <a:rPr lang="en-US" sz="1400" b="1" dirty="0">
                          <a:solidFill>
                            <a:srgbClr val="1B1F2A"/>
                          </a:solidFill>
                          <a:latin typeface="Calibri" pitchFamily="34" charset="0"/>
                          <a:ea typeface="Calibri" pitchFamily="34" charset="-122"/>
                          <a:cs typeface="Calibri" pitchFamily="34" charset="-120"/>
                        </a:rPr>
                        <a:t>Irving et al., 2018</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Two agents debate, a human judges</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Human judge; no logic check</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1F2A"/>
                          </a:solidFill>
                          <a:latin typeface="Calibri" pitchFamily="34" charset="0"/>
                          <a:ea typeface="Calibri" pitchFamily="34" charset="-122"/>
                          <a:cs typeface="Calibri" pitchFamily="34" charset="-120"/>
                        </a:rPr>
                        <a:t>Du et al., 2023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Several LLMs debate to improve factuality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LLM picks moves; no proof</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r>
              <a:tr h="548640">
                <a:tc>
                  <a:txBody>
                    <a:bodyPr/>
                    <a:lstStyle/>
                    <a:p>
                      <a:pPr indent="0" marL="0">
                        <a:buNone/>
                      </a:pPr>
                      <a:r>
                        <a:rPr lang="en-US" sz="1400" b="1" dirty="0">
                          <a:solidFill>
                            <a:srgbClr val="1B1F2A"/>
                          </a:solidFill>
                          <a:latin typeface="Calibri" pitchFamily="34" charset="0"/>
                          <a:ea typeface="Calibri" pitchFamily="34" charset="-122"/>
                          <a:cs typeface="Calibri" pitchFamily="34" charset="-120"/>
                        </a:rPr>
                        <a:t>Pan et al., 2023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Logic-LM: LLM plus symbolic solver</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Single-agent QA only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400" b="1" dirty="0">
                          <a:solidFill>
                            <a:srgbClr val="1B1F2A"/>
                          </a:solidFill>
                          <a:latin typeface="Calibri" pitchFamily="34" charset="0"/>
                          <a:ea typeface="Calibri" pitchFamily="34" charset="-122"/>
                          <a:cs typeface="Calibri" pitchFamily="34" charset="-120"/>
                        </a:rPr>
                        <a:t>Kocsis &amp; Szepesvári, 2006</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UCT: tree search with UCB1</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Games, not arguments</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2F4F7"/>
                    </a:solidFill>
                  </a:tcPr>
                </a:tc>
              </a:tr>
              <a:tr h="548640">
                <a:tc>
                  <a:txBody>
                    <a:bodyPr/>
                    <a:lstStyle/>
                    <a:p>
                      <a:pPr indent="0" marL="0">
                        <a:buNone/>
                      </a:pPr>
                      <a:r>
                        <a:rPr lang="en-US" sz="1400" b="1" dirty="0">
                          <a:solidFill>
                            <a:srgbClr val="1B1F2A"/>
                          </a:solidFill>
                          <a:latin typeface="Calibri" pitchFamily="34" charset="0"/>
                          <a:ea typeface="Calibri" pitchFamily="34" charset="-122"/>
                          <a:cs typeface="Calibri" pitchFamily="34" charset="-120"/>
                        </a:rPr>
                        <a:t>Robinson, 1965</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Resolution refutation</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rgbClr val="4B5563"/>
                          </a:solidFill>
                          <a:latin typeface="Calibri" pitchFamily="34" charset="0"/>
                          <a:ea typeface="Calibri" pitchFamily="34" charset="-122"/>
                          <a:cs typeface="Calibri" pitchFamily="34" charset="-120"/>
                        </a:rPr>
                        <a:t>Formal clauses only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Research Gap</a:t>
            </a:r>
            <a:endParaRPr lang="en-US" sz="3200" dirty="0"/>
          </a:p>
        </p:txBody>
      </p:sp>
      <p:sp>
        <p:nvSpPr>
          <p:cNvPr id="3" name="Shape 1"/>
          <p:cNvSpPr/>
          <p:nvPr/>
        </p:nvSpPr>
        <p:spPr>
          <a:xfrm>
            <a:off x="548640" y="1280160"/>
            <a:ext cx="8046720" cy="731520"/>
          </a:xfrm>
          <a:prstGeom prst="rect">
            <a:avLst/>
          </a:prstGeom>
          <a:solidFill>
            <a:srgbClr val="F2F4F7"/>
          </a:solidFill>
          <a:ln w="12700">
            <a:solidFill>
              <a:srgbClr val="F2F4F7"/>
            </a:solidFill>
            <a:prstDash val="solid"/>
          </a:ln>
        </p:spPr>
      </p:sp>
      <p:sp>
        <p:nvSpPr>
          <p:cNvPr id="4" name="Text 2"/>
          <p:cNvSpPr txBox="1"/>
          <p:nvPr/>
        </p:nvSpPr>
        <p:spPr>
          <a:xfrm>
            <a:off x="777240" y="1280160"/>
            <a:ext cx="731520" cy="731520"/>
          </a:xfrm>
          <a:prstGeom prst="rect">
            <a:avLst/>
          </a:prstGeom>
          <a:noFill/>
          <a:ln/>
        </p:spPr>
        <p:txBody>
          <a:bodyPr wrap="square" lIns="0" tIns="0" rIns="0" bIns="0" rtlCol="0" anchor="ctr"/>
          <a:lstStyle/>
          <a:p>
            <a:pPr indent="0" marL="0">
              <a:buNone/>
            </a:pPr>
            <a:r>
              <a:rPr lang="en-US" sz="2600" b="1" dirty="0">
                <a:solidFill>
                  <a:srgbClr val="B4452C"/>
                </a:solidFill>
                <a:latin typeface="Cambria" pitchFamily="34" charset="0"/>
                <a:ea typeface="Cambria" pitchFamily="34" charset="-122"/>
                <a:cs typeface="Cambria" pitchFamily="34" charset="-120"/>
              </a:rPr>
              <a:t>01</a:t>
            </a:r>
            <a:endParaRPr lang="en-US" sz="2600" dirty="0"/>
          </a:p>
        </p:txBody>
      </p:sp>
      <p:sp>
        <p:nvSpPr>
          <p:cNvPr id="5" name="Text 3"/>
          <p:cNvSpPr txBox="1"/>
          <p:nvPr/>
        </p:nvSpPr>
        <p:spPr>
          <a:xfrm>
            <a:off x="1600200" y="1353312"/>
            <a:ext cx="6766560" cy="2743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No formal consistency check</a:t>
            </a:r>
            <a:endParaRPr lang="en-US" sz="1600" dirty="0"/>
          </a:p>
        </p:txBody>
      </p:sp>
      <p:sp>
        <p:nvSpPr>
          <p:cNvPr id="6" name="Text 4"/>
          <p:cNvSpPr txBox="1"/>
          <p:nvPr/>
        </p:nvSpPr>
        <p:spPr>
          <a:xfrm>
            <a:off x="1600200" y="1645920"/>
            <a:ext cx="6766560" cy="2743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An LLM can contradict itself across turns and nothing detects or proves it.</a:t>
            </a:r>
            <a:endParaRPr lang="en-US" sz="1400" dirty="0"/>
          </a:p>
        </p:txBody>
      </p:sp>
      <p:sp>
        <p:nvSpPr>
          <p:cNvPr id="7" name="Shape 5"/>
          <p:cNvSpPr/>
          <p:nvPr/>
        </p:nvSpPr>
        <p:spPr>
          <a:xfrm>
            <a:off x="548640" y="2103120"/>
            <a:ext cx="8046720" cy="731520"/>
          </a:xfrm>
          <a:prstGeom prst="rect">
            <a:avLst/>
          </a:prstGeom>
          <a:solidFill>
            <a:srgbClr val="F2F4F7"/>
          </a:solidFill>
          <a:ln w="12700">
            <a:solidFill>
              <a:srgbClr val="F2F4F7"/>
            </a:solidFill>
            <a:prstDash val="solid"/>
          </a:ln>
        </p:spPr>
      </p:sp>
      <p:sp>
        <p:nvSpPr>
          <p:cNvPr id="8" name="Text 6"/>
          <p:cNvSpPr txBox="1"/>
          <p:nvPr/>
        </p:nvSpPr>
        <p:spPr>
          <a:xfrm>
            <a:off x="777240" y="2103120"/>
            <a:ext cx="731520" cy="731520"/>
          </a:xfrm>
          <a:prstGeom prst="rect">
            <a:avLst/>
          </a:prstGeom>
          <a:noFill/>
          <a:ln/>
        </p:spPr>
        <p:txBody>
          <a:bodyPr wrap="square" lIns="0" tIns="0" rIns="0" bIns="0" rtlCol="0" anchor="ctr"/>
          <a:lstStyle/>
          <a:p>
            <a:pPr indent="0" marL="0">
              <a:buNone/>
            </a:pPr>
            <a:r>
              <a:rPr lang="en-US" sz="2600" b="1" dirty="0">
                <a:solidFill>
                  <a:srgbClr val="B4452C"/>
                </a:solidFill>
                <a:latin typeface="Cambria" pitchFamily="34" charset="0"/>
                <a:ea typeface="Cambria" pitchFamily="34" charset="-122"/>
                <a:cs typeface="Cambria" pitchFamily="34" charset="-120"/>
              </a:rPr>
              <a:t>02</a:t>
            </a:r>
            <a:endParaRPr lang="en-US" sz="2600" dirty="0"/>
          </a:p>
        </p:txBody>
      </p:sp>
      <p:sp>
        <p:nvSpPr>
          <p:cNvPr id="9" name="Text 7"/>
          <p:cNvSpPr txBox="1"/>
          <p:nvPr/>
        </p:nvSpPr>
        <p:spPr>
          <a:xfrm>
            <a:off x="1600200" y="2176272"/>
            <a:ext cx="6766560" cy="2743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No strategic move selection</a:t>
            </a:r>
            <a:endParaRPr lang="en-US" sz="1600" dirty="0"/>
          </a:p>
        </p:txBody>
      </p:sp>
      <p:sp>
        <p:nvSpPr>
          <p:cNvPr id="10" name="Text 8"/>
          <p:cNvSpPr txBox="1"/>
          <p:nvPr/>
        </p:nvSpPr>
        <p:spPr>
          <a:xfrm>
            <a:off x="1600200" y="2468880"/>
            <a:ext cx="6766560" cy="2743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Rebuttals come from prompts, with no lookahead over candidate moves.</a:t>
            </a:r>
            <a:endParaRPr lang="en-US" sz="1400" dirty="0"/>
          </a:p>
        </p:txBody>
      </p:sp>
      <p:sp>
        <p:nvSpPr>
          <p:cNvPr id="11" name="Shape 9"/>
          <p:cNvSpPr/>
          <p:nvPr/>
        </p:nvSpPr>
        <p:spPr>
          <a:xfrm>
            <a:off x="548640" y="2926080"/>
            <a:ext cx="8046720" cy="731520"/>
          </a:xfrm>
          <a:prstGeom prst="rect">
            <a:avLst/>
          </a:prstGeom>
          <a:solidFill>
            <a:srgbClr val="F2F4F7"/>
          </a:solidFill>
          <a:ln w="12700">
            <a:solidFill>
              <a:srgbClr val="F2F4F7"/>
            </a:solidFill>
            <a:prstDash val="solid"/>
          </a:ln>
        </p:spPr>
      </p:sp>
      <p:sp>
        <p:nvSpPr>
          <p:cNvPr id="12" name="Text 10"/>
          <p:cNvSpPr txBox="1"/>
          <p:nvPr/>
        </p:nvSpPr>
        <p:spPr>
          <a:xfrm>
            <a:off x="777240" y="2926080"/>
            <a:ext cx="731520" cy="731520"/>
          </a:xfrm>
          <a:prstGeom prst="rect">
            <a:avLst/>
          </a:prstGeom>
          <a:noFill/>
          <a:ln/>
        </p:spPr>
        <p:txBody>
          <a:bodyPr wrap="square" lIns="0" tIns="0" rIns="0" bIns="0" rtlCol="0" anchor="ctr"/>
          <a:lstStyle/>
          <a:p>
            <a:pPr indent="0" marL="0">
              <a:buNone/>
            </a:pPr>
            <a:r>
              <a:rPr lang="en-US" sz="2600" b="1" dirty="0">
                <a:solidFill>
                  <a:srgbClr val="B4452C"/>
                </a:solidFill>
                <a:latin typeface="Cambria" pitchFamily="34" charset="0"/>
                <a:ea typeface="Cambria" pitchFamily="34" charset="-122"/>
                <a:cs typeface="Cambria" pitchFamily="34" charset="-120"/>
              </a:rPr>
              <a:t>03</a:t>
            </a:r>
            <a:endParaRPr lang="en-US" sz="2600" dirty="0"/>
          </a:p>
        </p:txBody>
      </p:sp>
      <p:sp>
        <p:nvSpPr>
          <p:cNvPr id="13" name="Text 11"/>
          <p:cNvSpPr txBox="1"/>
          <p:nvPr/>
        </p:nvSpPr>
        <p:spPr>
          <a:xfrm>
            <a:off x="1600200" y="2999232"/>
            <a:ext cx="6766560" cy="2743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Ungrounded claims</a:t>
            </a:r>
            <a:endParaRPr lang="en-US" sz="1600" dirty="0"/>
          </a:p>
        </p:txBody>
      </p:sp>
      <p:sp>
        <p:nvSpPr>
          <p:cNvPr id="14" name="Text 12"/>
          <p:cNvSpPr txBox="1"/>
          <p:nvPr/>
        </p:nvSpPr>
        <p:spPr>
          <a:xfrm>
            <a:off x="1600200" y="3291840"/>
            <a:ext cx="6766560" cy="2743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Facts are generated on the fly, so hallucinations pass unchecked.</a:t>
            </a:r>
            <a:endParaRPr lang="en-US" sz="1400" dirty="0"/>
          </a:p>
        </p:txBody>
      </p:sp>
      <p:sp>
        <p:nvSpPr>
          <p:cNvPr id="15" name="Shape 13"/>
          <p:cNvSpPr/>
          <p:nvPr/>
        </p:nvSpPr>
        <p:spPr>
          <a:xfrm>
            <a:off x="548640" y="3749040"/>
            <a:ext cx="8046720" cy="731520"/>
          </a:xfrm>
          <a:prstGeom prst="rect">
            <a:avLst/>
          </a:prstGeom>
          <a:solidFill>
            <a:srgbClr val="F2F4F7"/>
          </a:solidFill>
          <a:ln w="12700">
            <a:solidFill>
              <a:srgbClr val="F2F4F7"/>
            </a:solidFill>
            <a:prstDash val="solid"/>
          </a:ln>
        </p:spPr>
      </p:sp>
      <p:sp>
        <p:nvSpPr>
          <p:cNvPr id="16" name="Text 14"/>
          <p:cNvSpPr txBox="1"/>
          <p:nvPr/>
        </p:nvSpPr>
        <p:spPr>
          <a:xfrm>
            <a:off x="777240" y="3749040"/>
            <a:ext cx="731520" cy="731520"/>
          </a:xfrm>
          <a:prstGeom prst="rect">
            <a:avLst/>
          </a:prstGeom>
          <a:noFill/>
          <a:ln/>
        </p:spPr>
        <p:txBody>
          <a:bodyPr wrap="square" lIns="0" tIns="0" rIns="0" bIns="0" rtlCol="0" anchor="ctr"/>
          <a:lstStyle/>
          <a:p>
            <a:pPr indent="0" marL="0">
              <a:buNone/>
            </a:pPr>
            <a:r>
              <a:rPr lang="en-US" sz="2600" b="1" dirty="0">
                <a:solidFill>
                  <a:srgbClr val="B4452C"/>
                </a:solidFill>
                <a:latin typeface="Cambria" pitchFamily="34" charset="0"/>
                <a:ea typeface="Cambria" pitchFamily="34" charset="-122"/>
                <a:cs typeface="Cambria" pitchFamily="34" charset="-120"/>
              </a:rPr>
              <a:t>04</a:t>
            </a:r>
            <a:endParaRPr lang="en-US" sz="2600" dirty="0"/>
          </a:p>
        </p:txBody>
      </p:sp>
      <p:sp>
        <p:nvSpPr>
          <p:cNvPr id="17" name="Text 15"/>
          <p:cNvSpPr txBox="1"/>
          <p:nvPr/>
        </p:nvSpPr>
        <p:spPr>
          <a:xfrm>
            <a:off x="1600200" y="3822192"/>
            <a:ext cx="6766560" cy="274320"/>
          </a:xfrm>
          <a:prstGeom prst="rect">
            <a:avLst/>
          </a:prstGeom>
          <a:noFill/>
          <a:ln/>
        </p:spPr>
        <p:txBody>
          <a:bodyPr wrap="square" lIns="0" tIns="0" rIns="0" bIns="0" rtlCol="0" anchor="t"/>
          <a:lstStyle/>
          <a:p>
            <a:pPr indent="0" marL="0">
              <a:buNone/>
            </a:pPr>
            <a:r>
              <a:rPr lang="en-US" sz="1600" b="1" dirty="0">
                <a:solidFill>
                  <a:srgbClr val="1B1F2A"/>
                </a:solidFill>
                <a:latin typeface="Calibri" pitchFamily="34" charset="0"/>
                <a:ea typeface="Calibri" pitchFamily="34" charset="-122"/>
                <a:cs typeface="Calibri" pitchFamily="34" charset="-120"/>
              </a:rPr>
              <a:t>One model does everything</a:t>
            </a:r>
            <a:endParaRPr lang="en-US" sz="1600" dirty="0"/>
          </a:p>
        </p:txBody>
      </p:sp>
      <p:sp>
        <p:nvSpPr>
          <p:cNvPr id="18" name="Text 16"/>
          <p:cNvSpPr txBox="1"/>
          <p:nvPr/>
        </p:nvSpPr>
        <p:spPr>
          <a:xfrm>
            <a:off x="1600200" y="4114800"/>
            <a:ext cx="6766560" cy="2743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The same LLM reasons, judges and speaks, so its reasoning cannot be audited.</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Research Objective</a:t>
            </a:r>
            <a:endParaRPr lang="en-US" sz="3200" dirty="0"/>
          </a:p>
        </p:txBody>
      </p:sp>
      <p:sp>
        <p:nvSpPr>
          <p:cNvPr id="3" name="Shape 1"/>
          <p:cNvSpPr/>
          <p:nvPr/>
        </p:nvSpPr>
        <p:spPr>
          <a:xfrm>
            <a:off x="548640" y="1280160"/>
            <a:ext cx="3108960" cy="731520"/>
          </a:xfrm>
          <a:prstGeom prst="rect">
            <a:avLst/>
          </a:prstGeom>
          <a:solidFill>
            <a:srgbClr val="F2F4F7"/>
          </a:solidFill>
          <a:ln w="12700">
            <a:solidFill>
              <a:srgbClr val="F2F4F7"/>
            </a:solidFill>
            <a:prstDash val="solid"/>
          </a:ln>
        </p:spPr>
      </p:sp>
      <p:sp>
        <p:nvSpPr>
          <p:cNvPr id="4" name="Text 2"/>
          <p:cNvSpPr txBox="1"/>
          <p:nvPr/>
        </p:nvSpPr>
        <p:spPr>
          <a:xfrm>
            <a:off x="731520" y="1280160"/>
            <a:ext cx="2743200" cy="731520"/>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No formal consistency check</a:t>
            </a:r>
            <a:endParaRPr lang="en-US" sz="1400" dirty="0"/>
          </a:p>
        </p:txBody>
      </p:sp>
      <p:sp>
        <p:nvSpPr>
          <p:cNvPr id="5" name="Text 3"/>
          <p:cNvSpPr txBox="1"/>
          <p:nvPr/>
        </p:nvSpPr>
        <p:spPr>
          <a:xfrm>
            <a:off x="3657600" y="1280160"/>
            <a:ext cx="548640" cy="731520"/>
          </a:xfrm>
          <a:prstGeom prst="rect">
            <a:avLst/>
          </a:prstGeom>
          <a:noFill/>
          <a:ln/>
        </p:spPr>
        <p:txBody>
          <a:bodyPr wrap="square" lIns="0" tIns="0" rIns="0" bIns="0" rtlCol="0" anchor="ctr"/>
          <a:lstStyle/>
          <a:p>
            <a:pPr algn="ctr" indent="0" marL="0">
              <a:buNone/>
            </a:pPr>
            <a:r>
              <a:rPr lang="en-US" sz="2600" dirty="0">
                <a:solidFill>
                  <a:srgbClr val="B4452C"/>
                </a:solidFill>
                <a:latin typeface="Calibri" pitchFamily="34" charset="0"/>
                <a:ea typeface="Calibri" pitchFamily="34" charset="-122"/>
                <a:cs typeface="Calibri" pitchFamily="34" charset="-120"/>
              </a:rPr>
              <a:t>→</a:t>
            </a:r>
            <a:endParaRPr lang="en-US" sz="2600" dirty="0"/>
          </a:p>
        </p:txBody>
      </p:sp>
      <p:sp>
        <p:nvSpPr>
          <p:cNvPr id="6" name="Shape 4"/>
          <p:cNvSpPr/>
          <p:nvPr/>
        </p:nvSpPr>
        <p:spPr>
          <a:xfrm>
            <a:off x="4206240" y="1280160"/>
            <a:ext cx="4389120" cy="731520"/>
          </a:xfrm>
          <a:prstGeom prst="rect">
            <a:avLst/>
          </a:prstGeom>
          <a:solidFill>
            <a:srgbClr val="1B1F2A"/>
          </a:solidFill>
          <a:ln w="12700">
            <a:solidFill>
              <a:srgbClr val="1B1F2A"/>
            </a:solidFill>
            <a:prstDash val="solid"/>
          </a:ln>
        </p:spPr>
      </p:sp>
      <p:sp>
        <p:nvSpPr>
          <p:cNvPr id="7" name="Text 5"/>
          <p:cNvSpPr txBox="1"/>
          <p:nvPr/>
        </p:nvSpPr>
        <p:spPr>
          <a:xfrm>
            <a:off x="4389120" y="1280160"/>
            <a:ext cx="4023360" cy="7315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Verify every claim with CNF resolution refutation and record the proof steps</a:t>
            </a:r>
            <a:endParaRPr lang="en-US" sz="1400" dirty="0"/>
          </a:p>
        </p:txBody>
      </p:sp>
      <p:sp>
        <p:nvSpPr>
          <p:cNvPr id="8" name="Shape 6"/>
          <p:cNvSpPr/>
          <p:nvPr/>
        </p:nvSpPr>
        <p:spPr>
          <a:xfrm>
            <a:off x="548640" y="2103120"/>
            <a:ext cx="3108960" cy="731520"/>
          </a:xfrm>
          <a:prstGeom prst="rect">
            <a:avLst/>
          </a:prstGeom>
          <a:solidFill>
            <a:srgbClr val="F2F4F7"/>
          </a:solidFill>
          <a:ln w="12700">
            <a:solidFill>
              <a:srgbClr val="F2F4F7"/>
            </a:solidFill>
            <a:prstDash val="solid"/>
          </a:ln>
        </p:spPr>
      </p:sp>
      <p:sp>
        <p:nvSpPr>
          <p:cNvPr id="9" name="Text 7"/>
          <p:cNvSpPr txBox="1"/>
          <p:nvPr/>
        </p:nvSpPr>
        <p:spPr>
          <a:xfrm>
            <a:off x="731520" y="2103120"/>
            <a:ext cx="2743200" cy="731520"/>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No strategic move selection</a:t>
            </a:r>
            <a:endParaRPr lang="en-US" sz="1400" dirty="0"/>
          </a:p>
        </p:txBody>
      </p:sp>
      <p:sp>
        <p:nvSpPr>
          <p:cNvPr id="10" name="Text 8"/>
          <p:cNvSpPr txBox="1"/>
          <p:nvPr/>
        </p:nvSpPr>
        <p:spPr>
          <a:xfrm>
            <a:off x="3657600" y="2103120"/>
            <a:ext cx="548640" cy="731520"/>
          </a:xfrm>
          <a:prstGeom prst="rect">
            <a:avLst/>
          </a:prstGeom>
          <a:noFill/>
          <a:ln/>
        </p:spPr>
        <p:txBody>
          <a:bodyPr wrap="square" lIns="0" tIns="0" rIns="0" bIns="0" rtlCol="0" anchor="ctr"/>
          <a:lstStyle/>
          <a:p>
            <a:pPr algn="ctr" indent="0" marL="0">
              <a:buNone/>
            </a:pPr>
            <a:r>
              <a:rPr lang="en-US" sz="2600" dirty="0">
                <a:solidFill>
                  <a:srgbClr val="B4452C"/>
                </a:solidFill>
                <a:latin typeface="Calibri" pitchFamily="34" charset="0"/>
                <a:ea typeface="Calibri" pitchFamily="34" charset="-122"/>
                <a:cs typeface="Calibri" pitchFamily="34" charset="-120"/>
              </a:rPr>
              <a:t>→</a:t>
            </a:r>
            <a:endParaRPr lang="en-US" sz="2600" dirty="0"/>
          </a:p>
        </p:txBody>
      </p:sp>
      <p:sp>
        <p:nvSpPr>
          <p:cNvPr id="11" name="Shape 9"/>
          <p:cNvSpPr/>
          <p:nvPr/>
        </p:nvSpPr>
        <p:spPr>
          <a:xfrm>
            <a:off x="4206240" y="2103120"/>
            <a:ext cx="4389120" cy="731520"/>
          </a:xfrm>
          <a:prstGeom prst="rect">
            <a:avLst/>
          </a:prstGeom>
          <a:solidFill>
            <a:srgbClr val="1B1F2A"/>
          </a:solidFill>
          <a:ln w="12700">
            <a:solidFill>
              <a:srgbClr val="1B1F2A"/>
            </a:solidFill>
            <a:prstDash val="solid"/>
          </a:ln>
        </p:spPr>
      </p:sp>
      <p:sp>
        <p:nvSpPr>
          <p:cNvPr id="12" name="Text 10"/>
          <p:cNvSpPr txBox="1"/>
          <p:nvPr/>
        </p:nvSpPr>
        <p:spPr>
          <a:xfrm>
            <a:off x="4389120" y="2103120"/>
            <a:ext cx="4023360" cy="7315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Select each rebuttal with MCTS (UCB1, 10 simulations over 3–5 candidates)</a:t>
            </a:r>
            <a:endParaRPr lang="en-US" sz="1400" dirty="0"/>
          </a:p>
        </p:txBody>
      </p:sp>
      <p:sp>
        <p:nvSpPr>
          <p:cNvPr id="13" name="Shape 11"/>
          <p:cNvSpPr/>
          <p:nvPr/>
        </p:nvSpPr>
        <p:spPr>
          <a:xfrm>
            <a:off x="548640" y="2926080"/>
            <a:ext cx="3108960" cy="731520"/>
          </a:xfrm>
          <a:prstGeom prst="rect">
            <a:avLst/>
          </a:prstGeom>
          <a:solidFill>
            <a:srgbClr val="F2F4F7"/>
          </a:solidFill>
          <a:ln w="12700">
            <a:solidFill>
              <a:srgbClr val="F2F4F7"/>
            </a:solidFill>
            <a:prstDash val="solid"/>
          </a:ln>
        </p:spPr>
      </p:sp>
      <p:sp>
        <p:nvSpPr>
          <p:cNvPr id="14" name="Text 12"/>
          <p:cNvSpPr txBox="1"/>
          <p:nvPr/>
        </p:nvSpPr>
        <p:spPr>
          <a:xfrm>
            <a:off x="731520" y="2926080"/>
            <a:ext cx="2743200" cy="731520"/>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Ungrounded claims</a:t>
            </a:r>
            <a:endParaRPr lang="en-US" sz="1400" dirty="0"/>
          </a:p>
        </p:txBody>
      </p:sp>
      <p:sp>
        <p:nvSpPr>
          <p:cNvPr id="15" name="Text 13"/>
          <p:cNvSpPr txBox="1"/>
          <p:nvPr/>
        </p:nvSpPr>
        <p:spPr>
          <a:xfrm>
            <a:off x="3657600" y="2926080"/>
            <a:ext cx="548640" cy="731520"/>
          </a:xfrm>
          <a:prstGeom prst="rect">
            <a:avLst/>
          </a:prstGeom>
          <a:noFill/>
          <a:ln/>
        </p:spPr>
        <p:txBody>
          <a:bodyPr wrap="square" lIns="0" tIns="0" rIns="0" bIns="0" rtlCol="0" anchor="ctr"/>
          <a:lstStyle/>
          <a:p>
            <a:pPr algn="ctr" indent="0" marL="0">
              <a:buNone/>
            </a:pPr>
            <a:r>
              <a:rPr lang="en-US" sz="2600" dirty="0">
                <a:solidFill>
                  <a:srgbClr val="B4452C"/>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4206240" y="2926080"/>
            <a:ext cx="4389120" cy="731520"/>
          </a:xfrm>
          <a:prstGeom prst="rect">
            <a:avLst/>
          </a:prstGeom>
          <a:solidFill>
            <a:srgbClr val="1B1F2A"/>
          </a:solidFill>
          <a:ln w="12700">
            <a:solidFill>
              <a:srgbClr val="1B1F2A"/>
            </a:solidFill>
            <a:prstDash val="solid"/>
          </a:ln>
        </p:spPr>
      </p:sp>
      <p:sp>
        <p:nvSpPr>
          <p:cNvPr id="17" name="Text 15"/>
          <p:cNvSpPr txBox="1"/>
          <p:nvPr/>
        </p:nvSpPr>
        <p:spPr>
          <a:xfrm>
            <a:off x="4389120" y="2926080"/>
            <a:ext cx="4023360" cy="7315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Build a 20-fact base once and retrieve the best fact by cosine similarity</a:t>
            </a:r>
            <a:endParaRPr lang="en-US" sz="1400" dirty="0"/>
          </a:p>
        </p:txBody>
      </p:sp>
      <p:sp>
        <p:nvSpPr>
          <p:cNvPr id="18" name="Shape 16"/>
          <p:cNvSpPr/>
          <p:nvPr/>
        </p:nvSpPr>
        <p:spPr>
          <a:xfrm>
            <a:off x="548640" y="3749040"/>
            <a:ext cx="3108960" cy="731520"/>
          </a:xfrm>
          <a:prstGeom prst="rect">
            <a:avLst/>
          </a:prstGeom>
          <a:solidFill>
            <a:srgbClr val="F2F4F7"/>
          </a:solidFill>
          <a:ln w="12700">
            <a:solidFill>
              <a:srgbClr val="F2F4F7"/>
            </a:solidFill>
            <a:prstDash val="solid"/>
          </a:ln>
        </p:spPr>
      </p:sp>
      <p:sp>
        <p:nvSpPr>
          <p:cNvPr id="19" name="Text 17"/>
          <p:cNvSpPr txBox="1"/>
          <p:nvPr/>
        </p:nvSpPr>
        <p:spPr>
          <a:xfrm>
            <a:off x="731520" y="3749040"/>
            <a:ext cx="2743200" cy="731520"/>
          </a:xfrm>
          <a:prstGeom prst="rect">
            <a:avLst/>
          </a:prstGeom>
          <a:noFill/>
          <a:ln/>
        </p:spPr>
        <p:txBody>
          <a:bodyPr wrap="square" lIns="0" tIns="0" rIns="0" bIns="0" rtlCol="0" anchor="ctr"/>
          <a:lstStyle/>
          <a:p>
            <a:pPr indent="0" marL="0">
              <a:buNone/>
            </a:pPr>
            <a:r>
              <a:rPr lang="en-US" sz="1400" b="1" dirty="0">
                <a:solidFill>
                  <a:srgbClr val="1B1F2A"/>
                </a:solidFill>
                <a:latin typeface="Calibri" pitchFamily="34" charset="0"/>
                <a:ea typeface="Calibri" pitchFamily="34" charset="-122"/>
                <a:cs typeface="Calibri" pitchFamily="34" charset="-120"/>
              </a:rPr>
              <a:t>One model does everything</a:t>
            </a:r>
            <a:endParaRPr lang="en-US" sz="1400" dirty="0"/>
          </a:p>
        </p:txBody>
      </p:sp>
      <p:sp>
        <p:nvSpPr>
          <p:cNvPr id="20" name="Text 18"/>
          <p:cNvSpPr txBox="1"/>
          <p:nvPr/>
        </p:nvSpPr>
        <p:spPr>
          <a:xfrm>
            <a:off x="3657600" y="3749040"/>
            <a:ext cx="548640" cy="731520"/>
          </a:xfrm>
          <a:prstGeom prst="rect">
            <a:avLst/>
          </a:prstGeom>
          <a:noFill/>
          <a:ln/>
        </p:spPr>
        <p:txBody>
          <a:bodyPr wrap="square" lIns="0" tIns="0" rIns="0" bIns="0" rtlCol="0" anchor="ctr"/>
          <a:lstStyle/>
          <a:p>
            <a:pPr algn="ctr" indent="0" marL="0">
              <a:buNone/>
            </a:pPr>
            <a:r>
              <a:rPr lang="en-US" sz="2600" dirty="0">
                <a:solidFill>
                  <a:srgbClr val="B4452C"/>
                </a:solidFill>
                <a:latin typeface="Calibri" pitchFamily="34" charset="0"/>
                <a:ea typeface="Calibri" pitchFamily="34" charset="-122"/>
                <a:cs typeface="Calibri" pitchFamily="34" charset="-120"/>
              </a:rPr>
              <a:t>→</a:t>
            </a:r>
            <a:endParaRPr lang="en-US" sz="2600" dirty="0"/>
          </a:p>
        </p:txBody>
      </p:sp>
      <p:sp>
        <p:nvSpPr>
          <p:cNvPr id="21" name="Shape 19"/>
          <p:cNvSpPr/>
          <p:nvPr/>
        </p:nvSpPr>
        <p:spPr>
          <a:xfrm>
            <a:off x="4206240" y="3749040"/>
            <a:ext cx="4389120" cy="731520"/>
          </a:xfrm>
          <a:prstGeom prst="rect">
            <a:avLst/>
          </a:prstGeom>
          <a:solidFill>
            <a:srgbClr val="1B1F2A"/>
          </a:solidFill>
          <a:ln w="12700">
            <a:solidFill>
              <a:srgbClr val="1B1F2A"/>
            </a:solidFill>
            <a:prstDash val="solid"/>
          </a:ln>
        </p:spPr>
      </p:sp>
      <p:sp>
        <p:nvSpPr>
          <p:cNvPr id="22" name="Text 20"/>
          <p:cNvSpPr txBox="1"/>
          <p:nvPr/>
        </p:nvSpPr>
        <p:spPr>
          <a:xfrm>
            <a:off x="4389120" y="3749040"/>
            <a:ext cx="4023360" cy="73152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Limit the LLM to phrasing the chosen claim in natural language</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Proposed Work: Architecture</a:t>
            </a:r>
            <a:endParaRPr lang="en-US" sz="3200" dirty="0"/>
          </a:p>
        </p:txBody>
      </p:sp>
      <p:pic>
        <p:nvPicPr>
          <p:cNvPr id="3" name="Image 0" descr="System architecture and workflow of the Agentic Debate Arena">    </p:cNvPr>
          <p:cNvPicPr>
            <a:picLocks noChangeAspect="1"/>
          </p:cNvPicPr>
          <p:nvPr/>
        </p:nvPicPr>
        <p:blipFill>
          <a:blip r:embed="rId1"/>
          <a:stretch>
            <a:fillRect/>
          </a:stretch>
        </p:blipFill>
        <p:spPr>
          <a:xfrm>
            <a:off x="1345861" y="1097280"/>
            <a:ext cx="6452279" cy="3886200"/>
          </a:xfrm>
          <a:prstGeom prst="rect">
            <a:avLst/>
          </a:prstGeom>
        </p:spPr>
      </p:pic>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Proposed Work: Algorithm</a:t>
            </a:r>
            <a:endParaRPr lang="en-US" sz="3200" dirty="0"/>
          </a:p>
        </p:txBody>
      </p:sp>
      <p:sp>
        <p:nvSpPr>
          <p:cNvPr id="3" name="Shape 1"/>
          <p:cNvSpPr/>
          <p:nvPr/>
        </p:nvSpPr>
        <p:spPr>
          <a:xfrm>
            <a:off x="548640" y="1280160"/>
            <a:ext cx="3931920" cy="3200400"/>
          </a:xfrm>
          <a:prstGeom prst="rect">
            <a:avLst/>
          </a:prstGeom>
          <a:solidFill>
            <a:srgbClr val="F2F4F7"/>
          </a:solidFill>
          <a:ln w="12700">
            <a:solidFill>
              <a:srgbClr val="F2F4F7"/>
            </a:solidFill>
            <a:prstDash val="solid"/>
          </a:ln>
        </p:spPr>
      </p:sp>
      <p:sp>
        <p:nvSpPr>
          <p:cNvPr id="4" name="Text 2"/>
          <p:cNvSpPr txBox="1"/>
          <p:nvPr/>
        </p:nvSpPr>
        <p:spPr>
          <a:xfrm>
            <a:off x="777240" y="1417320"/>
            <a:ext cx="3474720" cy="365760"/>
          </a:xfrm>
          <a:prstGeom prst="rect">
            <a:avLst/>
          </a:prstGeom>
          <a:noFill/>
          <a:ln/>
        </p:spPr>
        <p:txBody>
          <a:bodyPr wrap="square" lIns="0" tIns="0" rIns="0" bIns="0" rtlCol="0" anchor="t"/>
          <a:lstStyle/>
          <a:p>
            <a:pPr indent="0" marL="0">
              <a:buNone/>
            </a:pPr>
            <a:r>
              <a:rPr lang="en-US" sz="1800" b="1" dirty="0">
                <a:solidFill>
                  <a:srgbClr val="1B1F2A"/>
                </a:solidFill>
                <a:latin typeface="Cambria" pitchFamily="34" charset="0"/>
                <a:ea typeface="Cambria" pitchFamily="34" charset="-122"/>
                <a:cs typeface="Cambria" pitchFamily="34" charset="-120"/>
              </a:rPr>
              <a:t>MCTS: pick the rebuttal</a:t>
            </a:r>
            <a:endParaRPr lang="en-US" sz="1800" dirty="0"/>
          </a:p>
        </p:txBody>
      </p:sp>
      <p:sp>
        <p:nvSpPr>
          <p:cNvPr id="5" name="Text 3"/>
          <p:cNvSpPr txBox="1"/>
          <p:nvPr/>
        </p:nvSpPr>
        <p:spPr>
          <a:xfrm>
            <a:off x="777240" y="19202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9202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Selection by highest UCB1</a:t>
            </a:r>
            <a:endParaRPr lang="en-US" sz="1400" dirty="0"/>
          </a:p>
        </p:txBody>
      </p:sp>
      <p:sp>
        <p:nvSpPr>
          <p:cNvPr id="7" name="Text 5"/>
          <p:cNvSpPr txBox="1"/>
          <p:nvPr/>
        </p:nvSpPr>
        <p:spPr>
          <a:xfrm>
            <a:off x="777240" y="23774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097280" y="23774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Expansion with an untried candidate</a:t>
            </a:r>
            <a:endParaRPr lang="en-US" sz="1400" dirty="0"/>
          </a:p>
        </p:txBody>
      </p:sp>
      <p:sp>
        <p:nvSpPr>
          <p:cNvPr id="9" name="Text 7"/>
          <p:cNvSpPr txBox="1"/>
          <p:nvPr/>
        </p:nvSpPr>
        <p:spPr>
          <a:xfrm>
            <a:off x="777240" y="28346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3</a:t>
            </a:r>
            <a:endParaRPr lang="en-US" sz="1600" dirty="0"/>
          </a:p>
        </p:txBody>
      </p:sp>
      <p:sp>
        <p:nvSpPr>
          <p:cNvPr id="10" name="Text 8"/>
          <p:cNvSpPr txBox="1"/>
          <p:nvPr/>
        </p:nvSpPr>
        <p:spPr>
          <a:xfrm>
            <a:off x="1097280" y="28346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Simulation scored by H(s)</a:t>
            </a:r>
            <a:endParaRPr lang="en-US" sz="1400" dirty="0"/>
          </a:p>
        </p:txBody>
      </p:sp>
      <p:sp>
        <p:nvSpPr>
          <p:cNvPr id="11" name="Text 9"/>
          <p:cNvSpPr txBox="1"/>
          <p:nvPr/>
        </p:nvSpPr>
        <p:spPr>
          <a:xfrm>
            <a:off x="777240" y="32918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4</a:t>
            </a:r>
            <a:endParaRPr lang="en-US" sz="1600" dirty="0"/>
          </a:p>
        </p:txBody>
      </p:sp>
      <p:sp>
        <p:nvSpPr>
          <p:cNvPr id="12" name="Text 10"/>
          <p:cNvSpPr txBox="1"/>
          <p:nvPr/>
        </p:nvSpPr>
        <p:spPr>
          <a:xfrm>
            <a:off x="1097280" y="32918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Backpropagation of value</a:t>
            </a:r>
            <a:endParaRPr lang="en-US" sz="1400" dirty="0"/>
          </a:p>
        </p:txBody>
      </p:sp>
      <p:sp>
        <p:nvSpPr>
          <p:cNvPr id="13" name="Text 11"/>
          <p:cNvSpPr txBox="1"/>
          <p:nvPr/>
        </p:nvSpPr>
        <p:spPr>
          <a:xfrm>
            <a:off x="777240" y="3886200"/>
            <a:ext cx="3474720" cy="457200"/>
          </a:xfrm>
          <a:prstGeom prst="rect">
            <a:avLst/>
          </a:prstGeom>
          <a:noFill/>
          <a:ln/>
        </p:spPr>
        <p:txBody>
          <a:bodyPr wrap="square" lIns="0" tIns="0" rIns="0" bIns="0" rtlCol="0" anchor="ctr"/>
          <a:lstStyle/>
          <a:p>
            <a:pPr indent="0" marL="0">
              <a:buNone/>
            </a:pPr>
            <a:r>
              <a:rPr lang="en-US" sz="1400" i="1" dirty="0">
                <a:solidFill>
                  <a:srgbClr val="B4452C"/>
                </a:solidFill>
                <a:latin typeface="Cambria" pitchFamily="34" charset="0"/>
                <a:ea typeface="Cambria" pitchFamily="34" charset="-122"/>
                <a:cs typeface="Cambria" pitchFamily="34" charset="-120"/>
              </a:rPr>
              <a:t>UCB1 = W/N + √2 · √(ln Np / N)</a:t>
            </a:r>
            <a:endParaRPr lang="en-US" sz="1400" dirty="0"/>
          </a:p>
        </p:txBody>
      </p:sp>
      <p:sp>
        <p:nvSpPr>
          <p:cNvPr id="14" name="Shape 12"/>
          <p:cNvSpPr/>
          <p:nvPr/>
        </p:nvSpPr>
        <p:spPr>
          <a:xfrm>
            <a:off x="4663440" y="1280160"/>
            <a:ext cx="3931920" cy="3200400"/>
          </a:xfrm>
          <a:prstGeom prst="rect">
            <a:avLst/>
          </a:prstGeom>
          <a:solidFill>
            <a:srgbClr val="F2F4F7"/>
          </a:solidFill>
          <a:ln w="12700">
            <a:solidFill>
              <a:srgbClr val="F2F4F7"/>
            </a:solidFill>
            <a:prstDash val="solid"/>
          </a:ln>
        </p:spPr>
      </p:sp>
      <p:sp>
        <p:nvSpPr>
          <p:cNvPr id="15" name="Text 13"/>
          <p:cNvSpPr txBox="1"/>
          <p:nvPr/>
        </p:nvSpPr>
        <p:spPr>
          <a:xfrm>
            <a:off x="4892040" y="1417320"/>
            <a:ext cx="3474720" cy="365760"/>
          </a:xfrm>
          <a:prstGeom prst="rect">
            <a:avLst/>
          </a:prstGeom>
          <a:noFill/>
          <a:ln/>
        </p:spPr>
        <p:txBody>
          <a:bodyPr wrap="square" lIns="0" tIns="0" rIns="0" bIns="0" rtlCol="0" anchor="t"/>
          <a:lstStyle/>
          <a:p>
            <a:pPr indent="0" marL="0">
              <a:buNone/>
            </a:pPr>
            <a:r>
              <a:rPr lang="en-US" sz="1800" b="1" dirty="0">
                <a:solidFill>
                  <a:srgbClr val="1B1F2A"/>
                </a:solidFill>
                <a:latin typeface="Cambria" pitchFamily="34" charset="0"/>
                <a:ea typeface="Cambria" pitchFamily="34" charset="-122"/>
                <a:cs typeface="Cambria" pitchFamily="34" charset="-120"/>
              </a:rPr>
              <a:t>Resolution: prove contradiction</a:t>
            </a:r>
            <a:endParaRPr lang="en-US" sz="1800" dirty="0"/>
          </a:p>
        </p:txBody>
      </p:sp>
      <p:sp>
        <p:nvSpPr>
          <p:cNvPr id="16" name="Text 14"/>
          <p:cNvSpPr txBox="1"/>
          <p:nvPr/>
        </p:nvSpPr>
        <p:spPr>
          <a:xfrm>
            <a:off x="4892040" y="19202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1</a:t>
            </a:r>
            <a:endParaRPr lang="en-US" sz="1600" dirty="0"/>
          </a:p>
        </p:txBody>
      </p:sp>
      <p:sp>
        <p:nvSpPr>
          <p:cNvPr id="17" name="Text 15"/>
          <p:cNvSpPr txBox="1"/>
          <p:nvPr/>
        </p:nvSpPr>
        <p:spPr>
          <a:xfrm>
            <a:off x="5212080" y="19202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Convert each claim to a CNF clause</a:t>
            </a:r>
            <a:endParaRPr lang="en-US" sz="1400" dirty="0"/>
          </a:p>
        </p:txBody>
      </p:sp>
      <p:sp>
        <p:nvSpPr>
          <p:cNvPr id="18" name="Text 16"/>
          <p:cNvSpPr txBox="1"/>
          <p:nvPr/>
        </p:nvSpPr>
        <p:spPr>
          <a:xfrm>
            <a:off x="4892040" y="23774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2</a:t>
            </a:r>
            <a:endParaRPr lang="en-US" sz="1600" dirty="0"/>
          </a:p>
        </p:txBody>
      </p:sp>
      <p:sp>
        <p:nvSpPr>
          <p:cNvPr id="19" name="Text 17"/>
          <p:cNvSpPr txBox="1"/>
          <p:nvPr/>
        </p:nvSpPr>
        <p:spPr>
          <a:xfrm>
            <a:off x="5212080" y="23774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Resolve pairs holding L and ¬L</a:t>
            </a:r>
            <a:endParaRPr lang="en-US" sz="1400" dirty="0"/>
          </a:p>
        </p:txBody>
      </p:sp>
      <p:sp>
        <p:nvSpPr>
          <p:cNvPr id="20" name="Text 18"/>
          <p:cNvSpPr txBox="1"/>
          <p:nvPr/>
        </p:nvSpPr>
        <p:spPr>
          <a:xfrm>
            <a:off x="4892040" y="28346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3</a:t>
            </a:r>
            <a:endParaRPr lang="en-US" sz="1600" dirty="0"/>
          </a:p>
        </p:txBody>
      </p:sp>
      <p:sp>
        <p:nvSpPr>
          <p:cNvPr id="21" name="Text 19"/>
          <p:cNvSpPr txBox="1"/>
          <p:nvPr/>
        </p:nvSpPr>
        <p:spPr>
          <a:xfrm>
            <a:off x="5212080" y="28346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Add the new resolvents</a:t>
            </a:r>
            <a:endParaRPr lang="en-US" sz="1400" dirty="0"/>
          </a:p>
        </p:txBody>
      </p:sp>
      <p:sp>
        <p:nvSpPr>
          <p:cNvPr id="22" name="Text 20"/>
          <p:cNvSpPr txBox="1"/>
          <p:nvPr/>
        </p:nvSpPr>
        <p:spPr>
          <a:xfrm>
            <a:off x="4892040" y="3291840"/>
            <a:ext cx="274320" cy="36576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5212080" y="3291840"/>
            <a:ext cx="3200400" cy="36576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Empty clause ⊥ means contradiction</a:t>
            </a:r>
            <a:endParaRPr lang="en-US" sz="1400" dirty="0"/>
          </a:p>
        </p:txBody>
      </p:sp>
      <p:sp>
        <p:nvSpPr>
          <p:cNvPr id="24" name="Text 22"/>
          <p:cNvSpPr txBox="1"/>
          <p:nvPr/>
        </p:nvSpPr>
        <p:spPr>
          <a:xfrm>
            <a:off x="4892040" y="3886200"/>
            <a:ext cx="3474720" cy="457200"/>
          </a:xfrm>
          <a:prstGeom prst="rect">
            <a:avLst/>
          </a:prstGeom>
          <a:noFill/>
          <a:ln/>
        </p:spPr>
        <p:txBody>
          <a:bodyPr wrap="square" lIns="0" tIns="0" rIns="0" bIns="0" rtlCol="0" anchor="ctr"/>
          <a:lstStyle/>
          <a:p>
            <a:pPr indent="0" marL="0">
              <a:buNone/>
            </a:pPr>
            <a:r>
              <a:rPr lang="en-US" sz="1400" i="1" dirty="0">
                <a:solidFill>
                  <a:srgbClr val="B4452C"/>
                </a:solidFill>
                <a:latin typeface="Cambria" pitchFamily="34" charset="0"/>
                <a:ea typeface="Cambria" pitchFamily="34" charset="-122"/>
                <a:cs typeface="Cambria" pitchFamily="34" charset="-120"/>
              </a:rPr>
              <a:t>(A ∨ B), (¬A ∨ C)  ⊢  (B ∨ C)</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Implementation</a:t>
            </a:r>
            <a:endParaRPr lang="en-US" sz="3200" dirty="0"/>
          </a:p>
        </p:txBody>
      </p:sp>
      <p:sp>
        <p:nvSpPr>
          <p:cNvPr id="3" name="Shape 1"/>
          <p:cNvSpPr/>
          <p:nvPr/>
        </p:nvSpPr>
        <p:spPr>
          <a:xfrm>
            <a:off x="548640" y="1280160"/>
            <a:ext cx="2560320" cy="3200400"/>
          </a:xfrm>
          <a:prstGeom prst="rect">
            <a:avLst/>
          </a:prstGeom>
          <a:solidFill>
            <a:srgbClr val="F2F4F7"/>
          </a:solidFill>
          <a:ln w="12700">
            <a:solidFill>
              <a:srgbClr val="F2F4F7"/>
            </a:solidFill>
            <a:prstDash val="solid"/>
          </a:ln>
        </p:spPr>
      </p:sp>
      <p:sp>
        <p:nvSpPr>
          <p:cNvPr id="4" name="Text 2"/>
          <p:cNvSpPr txBox="1"/>
          <p:nvPr/>
        </p:nvSpPr>
        <p:spPr>
          <a:xfrm>
            <a:off x="731520" y="1389888"/>
            <a:ext cx="2194560" cy="36576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Hardware</a:t>
            </a:r>
            <a:endParaRPr lang="en-US" sz="2000" dirty="0"/>
          </a:p>
        </p:txBody>
      </p:sp>
      <p:sp>
        <p:nvSpPr>
          <p:cNvPr id="5" name="Text 3"/>
          <p:cNvSpPr txBox="1"/>
          <p:nvPr/>
        </p:nvSpPr>
        <p:spPr>
          <a:xfrm>
            <a:off x="731520" y="1874520"/>
            <a:ext cx="2240280"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Standard laptop or PC</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No local GPU needed</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LLM inference on Groq LPU and NVIDIA NIM</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Internet access for LLM APIs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Browser for the React UI</a:t>
            </a:r>
            <a:endParaRPr lang="en-US" sz="1400" dirty="0"/>
          </a:p>
        </p:txBody>
      </p:sp>
      <p:sp>
        <p:nvSpPr>
          <p:cNvPr id="6" name="Shape 4"/>
          <p:cNvSpPr/>
          <p:nvPr/>
        </p:nvSpPr>
        <p:spPr>
          <a:xfrm>
            <a:off x="3291840" y="1280160"/>
            <a:ext cx="2560320" cy="3200400"/>
          </a:xfrm>
          <a:prstGeom prst="rect">
            <a:avLst/>
          </a:prstGeom>
          <a:solidFill>
            <a:srgbClr val="F2F4F7"/>
          </a:solidFill>
          <a:ln w="12700">
            <a:solidFill>
              <a:srgbClr val="F2F4F7"/>
            </a:solidFill>
            <a:prstDash val="solid"/>
          </a:ln>
        </p:spPr>
      </p:sp>
      <p:sp>
        <p:nvSpPr>
          <p:cNvPr id="7" name="Text 5"/>
          <p:cNvSpPr txBox="1"/>
          <p:nvPr/>
        </p:nvSpPr>
        <p:spPr>
          <a:xfrm>
            <a:off x="3474720" y="1389888"/>
            <a:ext cx="2194560" cy="36576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Software</a:t>
            </a:r>
            <a:endParaRPr lang="en-US" sz="2000" dirty="0"/>
          </a:p>
        </p:txBody>
      </p:sp>
      <p:sp>
        <p:nvSpPr>
          <p:cNvPr id="8" name="Text 6"/>
          <p:cNvSpPr txBox="1"/>
          <p:nvPr/>
        </p:nvSpPr>
        <p:spPr>
          <a:xfrm>
            <a:off x="3474720" y="1874520"/>
            <a:ext cx="2240280"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Python 3.10+</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FastAPI, Pydantic, NumPy</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React 18, Vite 5, TailwindCSS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Gemini and OpenAI SDKs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pytest for testing</a:t>
            </a:r>
            <a:endParaRPr lang="en-US" sz="1400" dirty="0"/>
          </a:p>
        </p:txBody>
      </p:sp>
      <p:sp>
        <p:nvSpPr>
          <p:cNvPr id="9" name="Shape 7"/>
          <p:cNvSpPr/>
          <p:nvPr/>
        </p:nvSpPr>
        <p:spPr>
          <a:xfrm>
            <a:off x="6035040" y="1280160"/>
            <a:ext cx="2560320" cy="3200400"/>
          </a:xfrm>
          <a:prstGeom prst="rect">
            <a:avLst/>
          </a:prstGeom>
          <a:solidFill>
            <a:srgbClr val="F2F4F7"/>
          </a:solidFill>
          <a:ln w="12700">
            <a:solidFill>
              <a:srgbClr val="F2F4F7"/>
            </a:solidFill>
            <a:prstDash val="solid"/>
          </a:ln>
        </p:spPr>
      </p:sp>
      <p:sp>
        <p:nvSpPr>
          <p:cNvPr id="10" name="Text 8"/>
          <p:cNvSpPr txBox="1"/>
          <p:nvPr/>
        </p:nvSpPr>
        <p:spPr>
          <a:xfrm>
            <a:off x="6217920" y="1389888"/>
            <a:ext cx="2194560" cy="365760"/>
          </a:xfrm>
          <a:prstGeom prst="rect">
            <a:avLst/>
          </a:prstGeom>
          <a:noFill/>
          <a:ln/>
        </p:spPr>
        <p:txBody>
          <a:bodyPr wrap="square" lIns="0" tIns="0" rIns="0" bIns="0" rtlCol="0" anchor="t"/>
          <a:lstStyle/>
          <a:p>
            <a:pPr indent="0" marL="0">
              <a:buNone/>
            </a:pPr>
            <a:r>
              <a:rPr lang="en-US" sz="2000" b="1" dirty="0">
                <a:solidFill>
                  <a:srgbClr val="1B1F2A"/>
                </a:solidFill>
                <a:latin typeface="Cambria" pitchFamily="34" charset="0"/>
                <a:ea typeface="Cambria" pitchFamily="34" charset="-122"/>
                <a:cs typeface="Cambria" pitchFamily="34" charset="-120"/>
              </a:rPr>
              <a:t>Specifications</a:t>
            </a:r>
            <a:endParaRPr lang="en-US" sz="2000" dirty="0"/>
          </a:p>
        </p:txBody>
      </p:sp>
      <p:sp>
        <p:nvSpPr>
          <p:cNvPr id="11" name="Text 9"/>
          <p:cNvSpPr txBox="1"/>
          <p:nvPr/>
        </p:nvSpPr>
        <p:spPr>
          <a:xfrm>
            <a:off x="6217920" y="1874520"/>
            <a:ext cx="2240280"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20 facts per debate</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10 MCTS simulations per turn</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3–5 candidate moves per turn</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4 LLM providers with fallbacks</a:t>
            </a:r>
            <a:endParaRPr lang="en-US" sz="1400" dirty="0"/>
          </a:p>
          <a:p>
            <a:pPr marL="342900" indent="-342900">
              <a:spcAft>
                <a:spcPts val="600"/>
              </a:spcAft>
              <a:buSzPct val="100000"/>
              <a:buChar char="•"/>
            </a:pPr>
            <a:r>
              <a:rPr lang="en-US" sz="1400" dirty="0">
                <a:solidFill>
                  <a:srgbClr val="4B5563"/>
                </a:solidFill>
                <a:latin typeface="Calibri" pitchFamily="34" charset="0"/>
                <a:ea typeface="Calibri" pitchFamily="34" charset="-122"/>
                <a:cs typeface="Calibri" pitchFamily="34" charset="-120"/>
              </a:rPr>
              <a:t>231+ tests in 13 files</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Result and Conclusion</a:t>
            </a:r>
            <a:endParaRPr lang="en-US" sz="3200" dirty="0"/>
          </a:p>
        </p:txBody>
      </p:sp>
      <p:pic>
        <p:nvPicPr>
          <p:cNvPr id="3" name="Image 0" descr="Verdict report screenshot of a six-turn debate">    </p:cNvPr>
          <p:cNvPicPr>
            <a:picLocks noChangeAspect="1"/>
          </p:cNvPicPr>
          <p:nvPr/>
        </p:nvPicPr>
        <p:blipFill>
          <a:blip r:embed="rId1"/>
          <a:stretch>
            <a:fillRect/>
          </a:stretch>
        </p:blipFill>
        <p:spPr>
          <a:xfrm>
            <a:off x="548640" y="1280160"/>
            <a:ext cx="4754880" cy="2971372"/>
          </a:xfrm>
          <a:prstGeom prst="rect">
            <a:avLst/>
          </a:prstGeom>
        </p:spPr>
      </p:pic>
      <p:sp>
        <p:nvSpPr>
          <p:cNvPr id="4" name="Text 1"/>
          <p:cNvSpPr txBox="1"/>
          <p:nvPr/>
        </p:nvSpPr>
        <p:spPr>
          <a:xfrm>
            <a:off x="5577840" y="1280160"/>
            <a:ext cx="3017520" cy="27432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Result</a:t>
            </a:r>
            <a:endParaRPr lang="en-US" sz="1600" dirty="0"/>
          </a:p>
        </p:txBody>
      </p:sp>
      <p:sp>
        <p:nvSpPr>
          <p:cNvPr id="5" name="Text 2"/>
          <p:cNvSpPr txBox="1"/>
          <p:nvPr/>
        </p:nvSpPr>
        <p:spPr>
          <a:xfrm>
            <a:off x="5577840" y="1600200"/>
            <a:ext cx="3017520" cy="91440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6-turn debate on skills vs. academics ends in a Draw with 0 contradictions.</a:t>
            </a:r>
            <a:endParaRPr lang="en-US" sz="1400" dirty="0"/>
          </a:p>
        </p:txBody>
      </p:sp>
      <p:sp>
        <p:nvSpPr>
          <p:cNvPr id="6" name="Text 3"/>
          <p:cNvSpPr txBox="1"/>
          <p:nvPr/>
        </p:nvSpPr>
        <p:spPr>
          <a:xfrm>
            <a:off x="5577840" y="2697480"/>
            <a:ext cx="3017520" cy="274320"/>
          </a:xfrm>
          <a:prstGeom prst="rect">
            <a:avLst/>
          </a:prstGeom>
          <a:noFill/>
          <a:ln/>
        </p:spPr>
        <p:txBody>
          <a:bodyPr wrap="square" lIns="0" tIns="0" rIns="0" bIns="0" rtlCol="0" anchor="t"/>
          <a:lstStyle/>
          <a:p>
            <a:pPr indent="0" marL="0">
              <a:buNone/>
            </a:pPr>
            <a:r>
              <a:rPr lang="en-US" sz="1600" b="1" dirty="0">
                <a:solidFill>
                  <a:srgbClr val="B4452C"/>
                </a:solidFill>
                <a:latin typeface="Calibri" pitchFamily="34" charset="0"/>
                <a:ea typeface="Calibri" pitchFamily="34" charset="-122"/>
                <a:cs typeface="Calibri" pitchFamily="34" charset="-120"/>
              </a:rPr>
              <a:t>Conclusion</a:t>
            </a:r>
            <a:endParaRPr lang="en-US" sz="1600" dirty="0"/>
          </a:p>
        </p:txBody>
      </p:sp>
      <p:sp>
        <p:nvSpPr>
          <p:cNvPr id="7" name="Text 4"/>
          <p:cNvSpPr txBox="1"/>
          <p:nvPr/>
        </p:nvSpPr>
        <p:spPr>
          <a:xfrm>
            <a:off x="5577840" y="3017520"/>
            <a:ext cx="3017520" cy="1371600"/>
          </a:xfrm>
          <a:prstGeom prst="rect">
            <a:avLst/>
          </a:prstGeom>
          <a:noFill/>
          <a:ln/>
        </p:spPr>
        <p:txBody>
          <a:bodyPr wrap="square" lIns="0" tIns="0" rIns="0" bIns="0" rtlCol="0" anchor="t"/>
          <a:lstStyle/>
          <a:p>
            <a:pPr indent="0" marL="0">
              <a:buNone/>
            </a:pPr>
            <a:r>
              <a:rPr lang="en-US" sz="1400" dirty="0">
                <a:solidFill>
                  <a:srgbClr val="1B1F2A"/>
                </a:solidFill>
                <a:latin typeface="Calibri" pitchFamily="34" charset="0"/>
                <a:ea typeface="Calibri" pitchFamily="34" charset="-122"/>
                <a:cs typeface="Calibri" pitchFamily="34" charset="-120"/>
              </a:rPr>
              <a:t>We used MCTS with UCB1 and CNF resolution to get grounded, contradiction-checked debates, with the LLM only phrasing claims.</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nchor="ctr"/>
          <a:lstStyle/>
          <a:p>
            <a:pPr algn="l" indent="0" marL="0">
              <a:buNone/>
            </a:pPr>
            <a:r>
              <a:rPr lang="en-US" sz="3200" b="1" dirty="0">
                <a:solidFill>
                  <a:srgbClr val="1B1F2A"/>
                </a:solidFill>
                <a:latin typeface="Cambria" pitchFamily="34" charset="0"/>
                <a:ea typeface="Cambria" pitchFamily="34" charset="-122"/>
                <a:cs typeface="Cambria" pitchFamily="34" charset="-120"/>
              </a:rPr>
              <a:t>Future Enhancement</a:t>
            </a:r>
            <a:endParaRPr lang="en-US" sz="3200" dirty="0"/>
          </a:p>
        </p:txBody>
      </p:sp>
      <p:sp>
        <p:nvSpPr>
          <p:cNvPr id="3" name="Shape 1"/>
          <p:cNvSpPr/>
          <p:nvPr/>
        </p:nvSpPr>
        <p:spPr>
          <a:xfrm>
            <a:off x="548640" y="1280160"/>
            <a:ext cx="3931920" cy="960120"/>
          </a:xfrm>
          <a:prstGeom prst="rect">
            <a:avLst/>
          </a:prstGeom>
          <a:solidFill>
            <a:srgbClr val="F2F4F7"/>
          </a:solidFill>
          <a:ln w="12700">
            <a:solidFill>
              <a:srgbClr val="F2F4F7"/>
            </a:solidFill>
            <a:prstDash val="solid"/>
          </a:ln>
        </p:spPr>
      </p:sp>
      <p:sp>
        <p:nvSpPr>
          <p:cNvPr id="4" name="Text 2"/>
          <p:cNvSpPr txBox="1"/>
          <p:nvPr/>
        </p:nvSpPr>
        <p:spPr>
          <a:xfrm>
            <a:off x="777240" y="137160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First-order logic</a:t>
            </a:r>
            <a:endParaRPr lang="en-US" sz="1600" dirty="0"/>
          </a:p>
        </p:txBody>
      </p:sp>
      <p:sp>
        <p:nvSpPr>
          <p:cNvPr id="5" name="Text 3"/>
          <p:cNvSpPr txBox="1"/>
          <p:nvPr/>
        </p:nvSpPr>
        <p:spPr>
          <a:xfrm>
            <a:off x="777240" y="169164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Extend resolution to predicates and quantifiers.</a:t>
            </a:r>
            <a:endParaRPr lang="en-US" sz="1400" dirty="0"/>
          </a:p>
        </p:txBody>
      </p:sp>
      <p:sp>
        <p:nvSpPr>
          <p:cNvPr id="6" name="Shape 4"/>
          <p:cNvSpPr/>
          <p:nvPr/>
        </p:nvSpPr>
        <p:spPr>
          <a:xfrm>
            <a:off x="4663440" y="1280160"/>
            <a:ext cx="3931920" cy="960120"/>
          </a:xfrm>
          <a:prstGeom prst="rect">
            <a:avLst/>
          </a:prstGeom>
          <a:solidFill>
            <a:srgbClr val="F2F4F7"/>
          </a:solidFill>
          <a:ln w="12700">
            <a:solidFill>
              <a:srgbClr val="F2F4F7"/>
            </a:solidFill>
            <a:prstDash val="solid"/>
          </a:ln>
        </p:spPr>
      </p:sp>
      <p:sp>
        <p:nvSpPr>
          <p:cNvPr id="7" name="Text 5"/>
          <p:cNvSpPr txBox="1"/>
          <p:nvPr/>
        </p:nvSpPr>
        <p:spPr>
          <a:xfrm>
            <a:off x="4892040" y="137160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Deeper search</a:t>
            </a:r>
            <a:endParaRPr lang="en-US" sz="1600" dirty="0"/>
          </a:p>
        </p:txBody>
      </p:sp>
      <p:sp>
        <p:nvSpPr>
          <p:cNvPr id="8" name="Text 6"/>
          <p:cNvSpPr txBox="1"/>
          <p:nvPr/>
        </p:nvSpPr>
        <p:spPr>
          <a:xfrm>
            <a:off x="4892040" y="169164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More simulations with real rollouts and a learned value function.</a:t>
            </a:r>
            <a:endParaRPr lang="en-US" sz="1400" dirty="0"/>
          </a:p>
        </p:txBody>
      </p:sp>
      <p:sp>
        <p:nvSpPr>
          <p:cNvPr id="9" name="Shape 7"/>
          <p:cNvSpPr/>
          <p:nvPr/>
        </p:nvSpPr>
        <p:spPr>
          <a:xfrm>
            <a:off x="548640" y="2377440"/>
            <a:ext cx="3931920" cy="960120"/>
          </a:xfrm>
          <a:prstGeom prst="rect">
            <a:avLst/>
          </a:prstGeom>
          <a:solidFill>
            <a:srgbClr val="F2F4F7"/>
          </a:solidFill>
          <a:ln w="12700">
            <a:solidFill>
              <a:srgbClr val="F2F4F7"/>
            </a:solidFill>
            <a:prstDash val="solid"/>
          </a:ln>
        </p:spPr>
      </p:sp>
      <p:sp>
        <p:nvSpPr>
          <p:cNvPr id="10" name="Text 8"/>
          <p:cNvSpPr txBox="1"/>
          <p:nvPr/>
        </p:nvSpPr>
        <p:spPr>
          <a:xfrm>
            <a:off x="777240" y="246888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Live fact-checking</a:t>
            </a:r>
            <a:endParaRPr lang="en-US" sz="1600" dirty="0"/>
          </a:p>
        </p:txBody>
      </p:sp>
      <p:sp>
        <p:nvSpPr>
          <p:cNvPr id="11" name="Text 9"/>
          <p:cNvSpPr txBox="1"/>
          <p:nvPr/>
        </p:nvSpPr>
        <p:spPr>
          <a:xfrm>
            <a:off x="777240" y="278892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Ground claims in retrieved web sources with citations.</a:t>
            </a:r>
            <a:endParaRPr lang="en-US" sz="1400" dirty="0"/>
          </a:p>
        </p:txBody>
      </p:sp>
      <p:sp>
        <p:nvSpPr>
          <p:cNvPr id="12" name="Shape 10"/>
          <p:cNvSpPr/>
          <p:nvPr/>
        </p:nvSpPr>
        <p:spPr>
          <a:xfrm>
            <a:off x="4663440" y="2377440"/>
            <a:ext cx="3931920" cy="960120"/>
          </a:xfrm>
          <a:prstGeom prst="rect">
            <a:avLst/>
          </a:prstGeom>
          <a:solidFill>
            <a:srgbClr val="F2F4F7"/>
          </a:solidFill>
          <a:ln w="12700">
            <a:solidFill>
              <a:srgbClr val="F2F4F7"/>
            </a:solidFill>
            <a:prstDash val="solid"/>
          </a:ln>
        </p:spPr>
      </p:sp>
      <p:sp>
        <p:nvSpPr>
          <p:cNvPr id="13" name="Text 11"/>
          <p:cNvSpPr txBox="1"/>
          <p:nvPr/>
        </p:nvSpPr>
        <p:spPr>
          <a:xfrm>
            <a:off x="4892040" y="246888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Human vs. AI mode</a:t>
            </a:r>
            <a:endParaRPr lang="en-US" sz="1600" dirty="0"/>
          </a:p>
        </p:txBody>
      </p:sp>
      <p:sp>
        <p:nvSpPr>
          <p:cNvPr id="14" name="Text 12"/>
          <p:cNvSpPr txBox="1"/>
          <p:nvPr/>
        </p:nvSpPr>
        <p:spPr>
          <a:xfrm>
            <a:off x="4892040" y="278892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A person debates an agent and gets the same analysis.</a:t>
            </a:r>
            <a:endParaRPr lang="en-US" sz="1400" dirty="0"/>
          </a:p>
        </p:txBody>
      </p:sp>
      <p:sp>
        <p:nvSpPr>
          <p:cNvPr id="15" name="Shape 13"/>
          <p:cNvSpPr/>
          <p:nvPr/>
        </p:nvSpPr>
        <p:spPr>
          <a:xfrm>
            <a:off x="548640" y="3474720"/>
            <a:ext cx="3931920" cy="960120"/>
          </a:xfrm>
          <a:prstGeom prst="rect">
            <a:avLst/>
          </a:prstGeom>
          <a:solidFill>
            <a:srgbClr val="F2F4F7"/>
          </a:solidFill>
          <a:ln w="12700">
            <a:solidFill>
              <a:srgbClr val="F2F4F7"/>
            </a:solidFill>
            <a:prstDash val="solid"/>
          </a:ln>
        </p:spPr>
      </p:sp>
      <p:sp>
        <p:nvSpPr>
          <p:cNvPr id="16" name="Text 14"/>
          <p:cNvSpPr txBox="1"/>
          <p:nvPr/>
        </p:nvSpPr>
        <p:spPr>
          <a:xfrm>
            <a:off x="777240" y="356616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Multi-agent panels</a:t>
            </a:r>
            <a:endParaRPr lang="en-US" sz="1600" dirty="0"/>
          </a:p>
        </p:txBody>
      </p:sp>
      <p:sp>
        <p:nvSpPr>
          <p:cNvPr id="17" name="Text 15"/>
          <p:cNvSpPr txBox="1"/>
          <p:nvPr/>
        </p:nvSpPr>
        <p:spPr>
          <a:xfrm>
            <a:off x="777240" y="388620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Three or more debaters with a moderator agent.</a:t>
            </a:r>
            <a:endParaRPr lang="en-US" sz="1400" dirty="0"/>
          </a:p>
        </p:txBody>
      </p:sp>
      <p:sp>
        <p:nvSpPr>
          <p:cNvPr id="18" name="Shape 16"/>
          <p:cNvSpPr/>
          <p:nvPr/>
        </p:nvSpPr>
        <p:spPr>
          <a:xfrm>
            <a:off x="4663440" y="3474720"/>
            <a:ext cx="3931920" cy="960120"/>
          </a:xfrm>
          <a:prstGeom prst="rect">
            <a:avLst/>
          </a:prstGeom>
          <a:solidFill>
            <a:srgbClr val="F2F4F7"/>
          </a:solidFill>
          <a:ln w="12700">
            <a:solidFill>
              <a:srgbClr val="F2F4F7"/>
            </a:solidFill>
            <a:prstDash val="solid"/>
          </a:ln>
        </p:spPr>
      </p:sp>
      <p:sp>
        <p:nvSpPr>
          <p:cNvPr id="19" name="Text 17"/>
          <p:cNvSpPr txBox="1"/>
          <p:nvPr/>
        </p:nvSpPr>
        <p:spPr>
          <a:xfrm>
            <a:off x="4892040" y="3566160"/>
            <a:ext cx="3474720" cy="274320"/>
          </a:xfrm>
          <a:prstGeom prst="rect">
            <a:avLst/>
          </a:prstGeom>
          <a:noFill/>
          <a:ln/>
        </p:spPr>
        <p:txBody>
          <a:bodyPr wrap="square" lIns="0" tIns="0" rIns="0" bIns="0" rtlCol="0" anchor="t"/>
          <a:lstStyle/>
          <a:p>
            <a:pPr indent="0" marL="0">
              <a:buNone/>
            </a:pPr>
            <a:r>
              <a:rPr lang="en-US" sz="1600" b="1" dirty="0">
                <a:solidFill>
                  <a:srgbClr val="1B1F2A"/>
                </a:solidFill>
                <a:latin typeface="Cambria" pitchFamily="34" charset="0"/>
                <a:ea typeface="Cambria" pitchFamily="34" charset="-122"/>
                <a:cs typeface="Cambria" pitchFamily="34" charset="-120"/>
              </a:rPr>
              <a:t>Voice and multilingual</a:t>
            </a:r>
            <a:endParaRPr lang="en-US" sz="1600" dirty="0"/>
          </a:p>
        </p:txBody>
      </p:sp>
      <p:sp>
        <p:nvSpPr>
          <p:cNvPr id="20" name="Text 18"/>
          <p:cNvSpPr txBox="1"/>
          <p:nvPr/>
        </p:nvSpPr>
        <p:spPr>
          <a:xfrm>
            <a:off x="4892040" y="3886200"/>
            <a:ext cx="3474720" cy="502920"/>
          </a:xfrm>
          <a:prstGeom prst="rect">
            <a:avLst/>
          </a:prstGeom>
          <a:noFill/>
          <a:ln/>
        </p:spPr>
        <p:txBody>
          <a:bodyPr wrap="square" lIns="0" tIns="0" rIns="0" bIns="0" rtlCol="0" anchor="t"/>
          <a:lstStyle/>
          <a:p>
            <a:pPr indent="0" marL="0">
              <a:buNone/>
            </a:pPr>
            <a:r>
              <a:rPr lang="en-US" sz="1400" dirty="0">
                <a:solidFill>
                  <a:srgbClr val="4B5563"/>
                </a:solidFill>
                <a:latin typeface="Calibri" pitchFamily="34" charset="0"/>
                <a:ea typeface="Calibri" pitchFamily="34" charset="-122"/>
                <a:cs typeface="Calibri" pitchFamily="34" charset="-120"/>
              </a:rPr>
              <a:t>Spoken debates and regional-language support.</a:t>
            </a:r>
            <a:endParaRPr lang="en-US" sz="1400" dirty="0"/>
          </a:p>
        </p:txBody>
      </p:sp>
      <p:sp>
        <p:nvSpPr>
          <p:cNvPr id="25" name="Slide Number Placeholder 0"/>
          <p:cNvSpPr>
            <a:spLocks noGrp="1"/>
          </p:cNvSpPr>
          <p:nvPr>
            <p:ph type="sldNum" sz="quarter" idx="4294967295"/>
          </p:nvPr>
        </p:nvSpPr>
        <p:spPr>
          <a:xfrm>
            <a:off x="813816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Debate Arena">
  <a:themeElements>
    <a:clrScheme name="Debate Arena">
      <a:dk1>
        <a:srgbClr val="1B1F2A"/>
      </a:dk1>
      <a:lt1>
        <a:srgbClr val="FFFFFF"/>
      </a:lt1>
      <a:dk2>
        <a:srgbClr val="4B5563"/>
      </a:dk2>
      <a:lt2>
        <a:srgbClr val="F2F4F7"/>
      </a:lt2>
      <a:accent1>
        <a:srgbClr val="B4452C"/>
      </a:accent1>
      <a:accent2>
        <a:srgbClr val="2F4858"/>
      </a:accent2>
      <a:accent3>
        <a:srgbClr val="6B7280"/>
      </a:accent3>
      <a:accent4>
        <a:srgbClr val="9CA3AF"/>
      </a:accent4>
      <a:accent5>
        <a:srgbClr val="D1D5DB"/>
      </a:accent5>
      <a:accent6>
        <a:srgbClr val="7C2D12"/>
      </a:accent6>
      <a:hlink>
        <a:srgbClr val="B4452C"/>
      </a:hlink>
      <a:folHlink>
        <a:srgbClr val="4B5563"/>
      </a:folHlink>
    </a:clrScheme>
    <a:fontScheme name="Debate Aren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Debate Arena with MCTS &amp; Neuro-Symbolic Logic Verification</dc:title>
  <dc:subject>PptxGenJS Presentation</dc:subject>
  <dc:creator>PptxGenJS</dc:creator>
  <cp:lastModifiedBy>PptxGenJS</cp:lastModifiedBy>
  <cp:revision>1</cp:revision>
  <dcterms:created xsi:type="dcterms:W3CDTF">2026-10-12T06:12:49Z</dcterms:created>
  <dcterms:modified xsi:type="dcterms:W3CDTF">2026-10-12T06:12:49Z</dcterms:modified>
</cp:coreProperties>
</file>